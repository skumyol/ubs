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74320"/>
          </a:xfrm>
          <a:prstGeom prst="rect">
            <a:avLst/>
          </a:prstGeom>
          <a:solidFill>
            <a:srgbClr val="E60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10972800" cy="1371600"/>
          </a:xfrm>
          <a:prstGeom prst="rect">
            <a:avLst/>
          </a:prstGeom>
          <a:noFill/>
        </p:spPr>
        <p:txBody>
          <a:bodyPr wrap="square">
            <a:spAutoFit/>
          </a:bodyPr>
          <a:lstStyle/>
          <a:p>
            <a:pPr>
              <a:defRPr sz="4400" b="1">
                <a:solidFill>
                  <a:srgbClr val="002F5D"/>
                </a:solidFill>
              </a:defRPr>
            </a:pPr>
            <a:r>
              <a:t>Long the Grid, Short the Bottleneck</a:t>
            </a:r>
          </a:p>
        </p:txBody>
      </p:sp>
      <p:sp>
        <p:nvSpPr>
          <p:cNvPr id="4" name="TextBox 3"/>
          <p:cNvSpPr txBox="1"/>
          <p:nvPr/>
        </p:nvSpPr>
        <p:spPr>
          <a:xfrm>
            <a:off x="640080" y="3200400"/>
            <a:ext cx="10972800" cy="914400"/>
          </a:xfrm>
          <a:prstGeom prst="rect">
            <a:avLst/>
          </a:prstGeom>
          <a:noFill/>
        </p:spPr>
        <p:txBody>
          <a:bodyPr wrap="square">
            <a:spAutoFit/>
          </a:bodyPr>
          <a:lstStyle/>
          <a:p>
            <a:pPr>
              <a:defRPr sz="2200">
                <a:solidFill>
                  <a:srgbClr val="666666"/>
                </a:solidFill>
              </a:defRPr>
            </a:pPr>
            <a:r>
              <a:t>Energy security is moving from barrels to electrons  |  Long Sieyuan Electric (601126.SS) / Short Halliburton (HAL)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Executive Summary</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Thesis: Own grid infrastructure to capture the electricity-continuity shift</a:t>
            </a:r>
          </a:p>
          <a:p>
            <a:pPr>
              <a:spcAft>
                <a:spcPts val="800"/>
              </a:spcAft>
              <a:defRPr sz="1800">
                <a:solidFill>
                  <a:srgbClr val="1A1A1A"/>
                </a:solidFill>
              </a:defRPr>
            </a:pPr>
            <a:r>
              <a:t>• Long Sieyuan Electric @ target upside: 40.1%</a:t>
            </a:r>
          </a:p>
          <a:p>
            <a:pPr>
              <a:spcAft>
                <a:spcPts val="800"/>
              </a:spcAft>
              <a:defRPr sz="1800">
                <a:solidFill>
                  <a:srgbClr val="1A1A1A"/>
                </a:solidFill>
              </a:defRPr>
            </a:pPr>
            <a:r>
              <a:t>• Short Halliburton @ target downside: -29.4%</a:t>
            </a:r>
          </a:p>
          <a:p>
            <a:pPr>
              <a:spcAft>
                <a:spcPts val="800"/>
              </a:spcAft>
              <a:defRPr sz="1800">
                <a:solidFill>
                  <a:srgbClr val="1A1A1A"/>
                </a:solidFill>
              </a:defRPr>
            </a:pPr>
            <a:r>
              <a:t>• Pair spread expected return: 69.6%</a:t>
            </a:r>
          </a:p>
          <a:p>
            <a:pPr>
              <a:spcAft>
                <a:spcPts val="800"/>
              </a:spcAft>
              <a:defRPr sz="1800">
                <a:solidFill>
                  <a:srgbClr val="1A1A1A"/>
                </a:solidFill>
              </a:defRPr>
            </a:pPr>
            <a:r>
              <a:t>• 3 pillars: (1) Structural electricity demand (2) Grid capex visibility (3) Oilfield cost pressure</a:t>
            </a:r>
          </a:p>
          <a:p>
            <a:pPr>
              <a:spcAft>
                <a:spcPts val="800"/>
              </a:spcAft>
              <a:defRPr sz="1800">
                <a:solidFill>
                  <a:srgbClr val="1A1A1A"/>
                </a:solidFill>
              </a:defRPr>
            </a:pPr>
            <a:r>
              <a:t>• Key catalysts: Sieyuan overseas wins, HAL Q2 guidance miss, grid policy announcements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Consensus: Energy Insecurity Means Owning Oil Exposure</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Market reads geopolitical risk as bullish for oil and oilfield services</a:t>
            </a:r>
          </a:p>
          <a:p>
            <a:pPr>
              <a:spcAft>
                <a:spcPts val="800"/>
              </a:spcAft>
              <a:defRPr sz="1800">
                <a:solidFill>
                  <a:srgbClr val="1A1A1A"/>
                </a:solidFill>
              </a:defRPr>
            </a:pPr>
            <a:r>
              <a:t>• Strait of Hormuz, Middle East tensions, shipping route vulnerability drive headlines</a:t>
            </a:r>
          </a:p>
          <a:p>
            <a:pPr>
              <a:spcAft>
                <a:spcPts val="800"/>
              </a:spcAft>
              <a:defRPr sz="1800">
                <a:solidFill>
                  <a:srgbClr val="1A1A1A"/>
                </a:solidFill>
              </a:defRPr>
            </a:pPr>
            <a:r>
              <a:t>• Assumption chain: oil disruption → higher crude → higher upstream capex → better OFS earnings</a:t>
            </a:r>
          </a:p>
          <a:p>
            <a:pPr>
              <a:spcAft>
                <a:spcPts val="800"/>
              </a:spcAft>
              <a:defRPr sz="1800">
                <a:solidFill>
                  <a:srgbClr val="1A1A1A"/>
                </a:solidFill>
              </a:defRPr>
            </a:pPr>
            <a:r>
              <a:t>• This view has been the dominant energy-security trade since 2022</a:t>
            </a:r>
          </a:p>
          <a:p>
            <a:pPr>
              <a:spcAft>
                <a:spcPts val="800"/>
              </a:spcAft>
              <a:defRPr sz="1800">
                <a:solidFill>
                  <a:srgbClr val="1A1A1A"/>
                </a:solidFill>
              </a:defRPr>
            </a:pPr>
            <a:r>
              <a:t>• But consensus over-connects oil price spikes with durable service earnings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Variant View: The Real Energy-Security Trade Is Grid Resilience</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Energy insecurity is not just about securing barrels — it is about securing reliable electricity</a:t>
            </a:r>
          </a:p>
          <a:p>
            <a:pPr>
              <a:spcAft>
                <a:spcPts val="800"/>
              </a:spcAft>
              <a:defRPr sz="1800">
                <a:solidFill>
                  <a:srgbClr val="1A1A1A"/>
                </a:solidFill>
              </a:defRPr>
            </a:pPr>
            <a:r>
              <a:t>• Data centers, EVs, industrial electrification, and cooling all stress the grid</a:t>
            </a:r>
          </a:p>
          <a:p>
            <a:pPr>
              <a:spcAft>
                <a:spcPts val="800"/>
              </a:spcAft>
              <a:defRPr sz="1800">
                <a:solidFill>
                  <a:srgbClr val="1A1A1A"/>
                </a:solidFill>
              </a:defRPr>
            </a:pPr>
            <a:r>
              <a:t>• Transformers, switchgear, transmission, substations — all in multi-year shortage</a:t>
            </a:r>
          </a:p>
          <a:p>
            <a:pPr>
              <a:spcAft>
                <a:spcPts val="800"/>
              </a:spcAft>
              <a:defRPr sz="1800">
                <a:solidFill>
                  <a:srgbClr val="1A1A1A"/>
                </a:solidFill>
              </a:defRPr>
            </a:pPr>
            <a:r>
              <a:t>• Governments treat grid hardening as national security infrastructure</a:t>
            </a:r>
          </a:p>
          <a:p>
            <a:pPr>
              <a:spcAft>
                <a:spcPts val="800"/>
              </a:spcAft>
              <a:defRPr sz="1800">
                <a:solidFill>
                  <a:srgbClr val="1A1A1A"/>
                </a:solidFill>
              </a:defRPr>
            </a:pPr>
            <a:r>
              <a:t>• → Oil disruption is the symptom. Grid investment is the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Electricity Continuity Is Becoming Strategic Infrastructure</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Global electricity demand expected to grow ~4% annually through 2030 (IEA)</a:t>
            </a:r>
          </a:p>
          <a:p>
            <a:pPr>
              <a:spcAft>
                <a:spcPts val="800"/>
              </a:spcAft>
              <a:defRPr sz="1800">
                <a:solidFill>
                  <a:srgbClr val="1A1A1A"/>
                </a:solidFill>
              </a:defRPr>
            </a:pPr>
            <a:r>
              <a:t>• US data center power demand projected to 2-3x by 2030 — driving grid equipment orders</a:t>
            </a:r>
          </a:p>
          <a:p>
            <a:pPr>
              <a:spcAft>
                <a:spcPts val="800"/>
              </a:spcAft>
              <a:defRPr sz="1800">
                <a:solidFill>
                  <a:srgbClr val="1A1A1A"/>
                </a:solidFill>
              </a:defRPr>
            </a:pPr>
            <a:r>
              <a:t>• Transformer lead times 80-120 weeks; transmission queue 2+ years in most markets</a:t>
            </a:r>
          </a:p>
          <a:p>
            <a:pPr>
              <a:spcAft>
                <a:spcPts val="800"/>
              </a:spcAft>
              <a:defRPr sz="1800">
                <a:solidFill>
                  <a:srgbClr val="1A1A1A"/>
                </a:solidFill>
              </a:defRPr>
            </a:pPr>
            <a:r>
              <a:t>• EU, US, and China all have multi-year grid investment programs</a:t>
            </a:r>
          </a:p>
          <a:p>
            <a:pPr>
              <a:spcAft>
                <a:spcPts val="800"/>
              </a:spcAft>
              <a:defRPr sz="1800">
                <a:solidFill>
                  <a:srgbClr val="1A1A1A"/>
                </a:solidFill>
              </a:defRPr>
            </a:pPr>
            <a:r>
              <a:t>• Policy support: IRA, EU Grid Action Plan, China State Grid Five-Year Plan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Sieyuan Electric: Direct Beneficiary of Grid Hardening</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Pure-play transmission &amp; distribution equipment: switchgear, transformers, substation automation</a:t>
            </a:r>
          </a:p>
          <a:p>
            <a:pPr>
              <a:spcAft>
                <a:spcPts val="800"/>
              </a:spcAft>
              <a:defRPr sz="1800">
                <a:solidFill>
                  <a:srgbClr val="1A1A1A"/>
                </a:solidFill>
              </a:defRPr>
            </a:pPr>
            <a:r>
              <a:t>• Strong domestic grid orders from State Grid Corp + overseas expansion (Middle East, SE Asia)</a:t>
            </a:r>
          </a:p>
          <a:p>
            <a:pPr>
              <a:spcAft>
                <a:spcPts val="800"/>
              </a:spcAft>
              <a:defRPr sz="1800">
                <a:solidFill>
                  <a:srgbClr val="1A1A1A"/>
                </a:solidFill>
              </a:defRPr>
            </a:pPr>
            <a:r>
              <a:t>• Revenue growth trajectory supported by multi-year order backlog</a:t>
            </a:r>
          </a:p>
          <a:p>
            <a:pPr>
              <a:spcAft>
                <a:spcPts val="800"/>
              </a:spcAft>
              <a:defRPr sz="1800">
                <a:solidFill>
                  <a:srgbClr val="1A1A1A"/>
                </a:solidFill>
              </a:defRPr>
            </a:pPr>
            <a:r>
              <a:t>• Gross margins stable/improving vs peers; R&amp;D investment in digital grid</a:t>
            </a:r>
          </a:p>
          <a:p>
            <a:pPr>
              <a:spcAft>
                <a:spcPts val="800"/>
              </a:spcAft>
              <a:defRPr sz="1800">
                <a:solidFill>
                  <a:srgbClr val="1A1A1A"/>
                </a:solidFill>
              </a:defRPr>
            </a:pPr>
            <a:r>
              <a:t>• Variant gap: Market prices it as cyclical China equipment — we price it as global grid-resilience compounder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Halliburton: Exposed to Fragile Energy Logistics</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Revenue tied to upstream capex cycles — North America, Middle East, offshore</a:t>
            </a:r>
          </a:p>
          <a:p>
            <a:pPr>
              <a:spcAft>
                <a:spcPts val="800"/>
              </a:spcAft>
              <a:defRPr sz="1800">
                <a:solidFill>
                  <a:srgbClr val="1A1A1A"/>
                </a:solidFill>
              </a:defRPr>
            </a:pPr>
            <a:r>
              <a:t>• Cost pressure: logistics, materials, labor compressing margins</a:t>
            </a:r>
          </a:p>
          <a:p>
            <a:pPr>
              <a:spcAft>
                <a:spcPts val="800"/>
              </a:spcAft>
              <a:defRPr sz="1800">
                <a:solidFill>
                  <a:srgbClr val="1A1A1A"/>
                </a:solidFill>
              </a:defRPr>
            </a:pPr>
            <a:r>
              <a:t>• Project delays and capex caution during geopolitical uncertainty</a:t>
            </a:r>
          </a:p>
          <a:p>
            <a:pPr>
              <a:spcAft>
                <a:spcPts val="800"/>
              </a:spcAft>
              <a:defRPr sz="1800">
                <a:solidFill>
                  <a:srgbClr val="1A1A1A"/>
                </a:solidFill>
              </a:defRPr>
            </a:pPr>
            <a:r>
              <a:t>• Rig count volatility = utilization risk outside company control</a:t>
            </a:r>
          </a:p>
          <a:p>
            <a:pPr>
              <a:spcAft>
                <a:spcPts val="800"/>
              </a:spcAft>
              <a:defRPr sz="1800">
                <a:solidFill>
                  <a:srgbClr val="1A1A1A"/>
                </a:solidFill>
              </a:defRPr>
            </a:pPr>
            <a:r>
              <a:t>• Higher oil prices ≠ higher service earnings (historical disconnect in disruption periods)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Historical Divergence: Oil vs HAL vs Sieyuan (2Y)</a:t>
            </a:r>
          </a:p>
        </p:txBody>
      </p:sp>
      <p:pic>
        <p:nvPicPr>
          <p:cNvPr id="3" name="Picture 2" descr="oil_hal_correlation.png"/>
          <p:cNvPicPr>
            <a:picLocks noChangeAspect="1"/>
          </p:cNvPicPr>
          <p:nvPr/>
        </p:nvPicPr>
        <p:blipFill>
          <a:blip r:embed="rId2"/>
          <a:stretch>
            <a:fillRect/>
          </a:stretch>
        </p:blipFill>
        <p:spPr>
          <a:xfrm>
            <a:off x="1371600" y="1188720"/>
            <a:ext cx="9144000" cy="5029200"/>
          </a:xfrm>
          <a:prstGeom prst="rect">
            <a:avLst/>
          </a:prstGeom>
        </p:spPr>
      </p:pic>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Oil +16.4%, HAL +9.6% (underperformed), Sieyuan +227.3%. Forward thesis is margin-driven, not oil-correlated.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Same Energy-Security Theme, Opposite Earnings Quality</a:t>
            </a:r>
          </a:p>
        </p:txBody>
      </p:sp>
      <p:pic>
        <p:nvPicPr>
          <p:cNvPr id="3" name="Picture 2" descr="long_short_matrix.png"/>
          <p:cNvPicPr>
            <a:picLocks noChangeAspect="1"/>
          </p:cNvPicPr>
          <p:nvPr/>
        </p:nvPicPr>
        <p:blipFill>
          <a:blip r:embed="rId2"/>
          <a:stretch>
            <a:fillRect/>
          </a:stretch>
        </p:blipFill>
        <p:spPr>
          <a:xfrm>
            <a:off x="1371600" y="1188720"/>
            <a:ext cx="9144000" cy="5029200"/>
          </a:xfrm>
          <a:prstGeom prst="rect">
            <a:avLst/>
          </a:prstGeom>
        </p:spPr>
      </p:pic>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Long Sieyuan captures the capex tailwind. Short HAL carries the logistics risk.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Thematic Evidence Tracker: Text-Based Signal Compilation</a:t>
            </a:r>
          </a:p>
        </p:txBody>
      </p:sp>
      <p:graphicFrame>
        <p:nvGraphicFramePr>
          <p:cNvPr id="3" name="Table 2"/>
          <p:cNvGraphicFramePr>
            <a:graphicFrameLocks noGrp="1"/>
          </p:cNvGraphicFramePr>
          <p:nvPr/>
        </p:nvGraphicFramePr>
        <p:xfrm>
          <a:off x="640080" y="1188720"/>
          <a:ext cx="4937760" cy="2560320"/>
        </p:xfrm>
        <a:graphic>
          <a:graphicData uri="http://schemas.openxmlformats.org/drawingml/2006/table">
            <a:tbl>
              <a:tblPr firstRow="1" bandRow="1">
                <a:tableStyleId>{5C22544A-7EE6-4342-B048-85BDC9FD1C3A}</a:tableStyleId>
              </a:tblPr>
              <a:tblGrid>
                <a:gridCol w="1645920"/>
                <a:gridCol w="1645920"/>
                <a:gridCol w="1645920"/>
              </a:tblGrid>
              <a:tr h="426720">
                <a:tc>
                  <a:txBody>
                    <a:bodyPr/>
                    <a:lstStyle/>
                    <a:p>
                      <a:r>
                        <a:rPr sz="1200" b="1">
                          <a:solidFill>
                            <a:srgbClr val="FFFFFF"/>
                          </a:solidFill>
                        </a:rPr>
                        <a:t>Signal Cluster</a:t>
                      </a:r>
                    </a:p>
                  </a:txBody>
                  <a:tcPr>
                    <a:solidFill>
                      <a:srgbClr val="002F5D"/>
                    </a:solidFill>
                  </a:tcPr>
                </a:tc>
                <a:tc>
                  <a:txBody>
                    <a:bodyPr/>
                    <a:lstStyle/>
                    <a:p>
                      <a:r>
                        <a:rPr sz="1200" b="1">
                          <a:solidFill>
                            <a:srgbClr val="FFFFFF"/>
                          </a:solidFill>
                        </a:rPr>
                        <a:t>Grid Equipment</a:t>
                      </a:r>
                    </a:p>
                  </a:txBody>
                  <a:tcPr>
                    <a:solidFill>
                      <a:srgbClr val="002F5D"/>
                    </a:solidFill>
                  </a:tcPr>
                </a:tc>
                <a:tc>
                  <a:txBody>
                    <a:bodyPr/>
                    <a:lstStyle/>
                    <a:p>
                      <a:r>
                        <a:rPr sz="1200" b="1">
                          <a:solidFill>
                            <a:srgbClr val="FFFFFF"/>
                          </a:solidFill>
                        </a:rPr>
                        <a:t>Oilfield Services</a:t>
                      </a:r>
                    </a:p>
                  </a:txBody>
                  <a:tcPr>
                    <a:solidFill>
                      <a:srgbClr val="002F5D"/>
                    </a:solidFill>
                  </a:tcPr>
                </a:tc>
              </a:tr>
              <a:tr h="426720">
                <a:tc>
                  <a:txBody>
                    <a:bodyPr/>
                    <a:lstStyle/>
                    <a:p>
                      <a:r>
                        <a:rPr sz="1100">
                          <a:solidFill>
                            <a:srgbClr val="1A1A1A"/>
                          </a:solidFill>
                        </a:rPr>
                        <a:t>Grid upgrade</a:t>
                      </a:r>
                    </a:p>
                  </a:txBody>
                  <a:tcPr/>
                </a:tc>
                <a:tc>
                  <a:txBody>
                    <a:bodyPr/>
                    <a:lstStyle/>
                    <a:p>
                      <a:r>
                        <a:rPr sz="1100">
                          <a:solidFill>
                            <a:srgbClr val="1A1A1A"/>
                          </a:solidFill>
                        </a:rPr>
                        <a:t>Low</a:t>
                      </a:r>
                    </a:p>
                  </a:txBody>
                  <a:tcPr/>
                </a:tc>
                <a:tc>
                  <a:txBody>
                    <a:bodyPr/>
                    <a:lstStyle/>
                    <a:p>
                      <a:r>
                        <a:rPr sz="1100">
                          <a:solidFill>
                            <a:srgbClr val="1A1A1A"/>
                          </a:solidFill>
                        </a:rPr>
                        <a:t>Low</a:t>
                      </a:r>
                    </a:p>
                  </a:txBody>
                  <a:tcPr/>
                </a:tc>
              </a:tr>
              <a:tr h="426720">
                <a:tc>
                  <a:txBody>
                    <a:bodyPr/>
                    <a:lstStyle/>
                    <a:p>
                      <a:r>
                        <a:rPr sz="1100">
                          <a:solidFill>
                            <a:srgbClr val="1A1A1A"/>
                          </a:solidFill>
                        </a:rPr>
                        <a:t>Electricity demand</a:t>
                      </a:r>
                    </a:p>
                  </a:txBody>
                  <a:tcPr/>
                </a:tc>
                <a:tc>
                  <a:txBody>
                    <a:bodyPr/>
                    <a:lstStyle/>
                    <a:p>
                      <a:r>
                        <a:rPr sz="1100">
                          <a:solidFill>
                            <a:srgbClr val="1A1A1A"/>
                          </a:solidFill>
                        </a:rPr>
                        <a:t>Low</a:t>
                      </a:r>
                    </a:p>
                  </a:txBody>
                  <a:tcPr/>
                </a:tc>
                <a:tc>
                  <a:txBody>
                    <a:bodyPr/>
                    <a:lstStyle/>
                    <a:p>
                      <a:r>
                        <a:rPr sz="1100">
                          <a:solidFill>
                            <a:srgbClr val="1A1A1A"/>
                          </a:solidFill>
                        </a:rPr>
                        <a:t>Low</a:t>
                      </a:r>
                    </a:p>
                  </a:txBody>
                  <a:tcPr/>
                </a:tc>
              </a:tr>
              <a:tr h="426720">
                <a:tc>
                  <a:txBody>
                    <a:bodyPr/>
                    <a:lstStyle/>
                    <a:p>
                      <a:r>
                        <a:rPr sz="1100">
                          <a:solidFill>
                            <a:srgbClr val="1A1A1A"/>
                          </a:solidFill>
                        </a:rPr>
                        <a:t>Policy-backed capex</a:t>
                      </a:r>
                    </a:p>
                  </a:txBody>
                  <a:tcPr/>
                </a:tc>
                <a:tc>
                  <a:txBody>
                    <a:bodyPr/>
                    <a:lstStyle/>
                    <a:p>
                      <a:r>
                        <a:rPr sz="1100">
                          <a:solidFill>
                            <a:srgbClr val="1A1A1A"/>
                          </a:solidFill>
                        </a:rPr>
                        <a:t>Low</a:t>
                      </a:r>
                    </a:p>
                  </a:txBody>
                  <a:tcPr/>
                </a:tc>
                <a:tc>
                  <a:txBody>
                    <a:bodyPr/>
                    <a:lstStyle/>
                    <a:p>
                      <a:r>
                        <a:rPr sz="1100">
                          <a:solidFill>
                            <a:srgbClr val="1A1A1A"/>
                          </a:solidFill>
                        </a:rPr>
                        <a:t>Low</a:t>
                      </a:r>
                    </a:p>
                  </a:txBody>
                  <a:tcPr/>
                </a:tc>
              </a:tr>
              <a:tr h="426720">
                <a:tc>
                  <a:txBody>
                    <a:bodyPr/>
                    <a:lstStyle/>
                    <a:p>
                      <a:r>
                        <a:rPr sz="1100">
                          <a:solidFill>
                            <a:srgbClr val="1A1A1A"/>
                          </a:solidFill>
                        </a:rPr>
                        <a:t>Logistics disruption</a:t>
                      </a:r>
                    </a:p>
                  </a:txBody>
                  <a:tcPr/>
                </a:tc>
                <a:tc>
                  <a:txBody>
                    <a:bodyPr/>
                    <a:lstStyle/>
                    <a:p>
                      <a:r>
                        <a:rPr sz="1100">
                          <a:solidFill>
                            <a:srgbClr val="1A1A1A"/>
                          </a:solidFill>
                        </a:rPr>
                        <a:t>Low</a:t>
                      </a:r>
                    </a:p>
                  </a:txBody>
                  <a:tcPr/>
                </a:tc>
                <a:tc>
                  <a:txBody>
                    <a:bodyPr/>
                    <a:lstStyle/>
                    <a:p>
                      <a:r>
                        <a:rPr sz="1100">
                          <a:solidFill>
                            <a:srgbClr val="1A1A1A"/>
                          </a:solidFill>
                        </a:rPr>
                        <a:t>Low</a:t>
                      </a:r>
                    </a:p>
                  </a:txBody>
                  <a:tcPr/>
                </a:tc>
              </a:tr>
              <a:tr h="426720">
                <a:tc>
                  <a:txBody>
                    <a:bodyPr/>
                    <a:lstStyle/>
                    <a:p>
                      <a:r>
                        <a:rPr sz="1100">
                          <a:solidFill>
                            <a:srgbClr val="1A1A1A"/>
                          </a:solidFill>
                        </a:rPr>
                        <a:t>Margin pressure</a:t>
                      </a:r>
                    </a:p>
                  </a:txBody>
                  <a:tcPr/>
                </a:tc>
                <a:tc>
                  <a:txBody>
                    <a:bodyPr/>
                    <a:lstStyle/>
                    <a:p>
                      <a:r>
                        <a:rPr sz="1100">
                          <a:solidFill>
                            <a:srgbClr val="1A1A1A"/>
                          </a:solidFill>
                        </a:rPr>
                        <a:t>Low</a:t>
                      </a:r>
                    </a:p>
                  </a:txBody>
                  <a:tcPr/>
                </a:tc>
                <a:tc>
                  <a:txBody>
                    <a:bodyPr/>
                    <a:lstStyle/>
                    <a:p>
                      <a:r>
                        <a:rPr sz="1100">
                          <a:solidFill>
                            <a:srgbClr val="1A1A1A"/>
                          </a:solidFill>
                        </a:rPr>
                        <a:t>High</a:t>
                      </a:r>
                    </a:p>
                  </a:txBody>
                  <a:tcPr/>
                </a:tc>
              </a:tr>
            </a:tbl>
          </a:graphicData>
        </a:graphic>
      </p:graphicFrame>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Thesis support score: 0.182 | Moderate support for variant thesis | Grid signal share: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Supporting Evidence: Text Classification Results</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400"/>
              </a:spcAft>
              <a:defRPr sz="1400" i="1">
                <a:solidFill>
                  <a:srgbClr val="1A1A1A"/>
                </a:solidFill>
              </a:defRPr>
            </a:pPr>
            <a:r>
              <a:t>"These estimates do not take into account the coordinated emergency release in March 2026 by member countries of the International Energy Agency following Iran’s de facto closure of the Strait of Hormuz. United States The U.S."</a:t>
            </a:r>
          </a:p>
          <a:p>
            <a:pPr>
              <a:spcAft>
                <a:spcPts val="1200"/>
              </a:spcAft>
              <a:defRPr sz="1100">
                <a:solidFill>
                  <a:srgbClr val="666666"/>
                </a:solidFill>
              </a:defRPr>
            </a:pPr>
            <a:r>
              <a:t>  — China the United States and Japan hold most strategic oil inventories in 2025  |  Oil Supply Disruption  |  conf 0.95</a:t>
            </a:r>
          </a:p>
          <a:p>
            <a:pPr>
              <a:spcAft>
                <a:spcPts val="400"/>
              </a:spcAft>
              <a:defRPr sz="1400" i="1">
                <a:solidFill>
                  <a:srgbClr val="1A1A1A"/>
                </a:solidFill>
              </a:defRPr>
            </a:pPr>
            <a:r>
              <a:t>"Q4 international revenue -- Up 7% sequentially, led by Europe/Africa (+12% to $928 million), Middle East/Asia (+3% to $1.5 billion), and Latin America (+7% to $1.1 billion). Q4 North America revenue -- $2.2 billion, down 7% sequentially, due to lower stimulation and fluid service"</a:t>
            </a:r>
          </a:p>
          <a:p>
            <a:pPr>
              <a:spcAft>
                <a:spcPts val="1200"/>
              </a:spcAft>
              <a:defRPr sz="1100">
                <a:solidFill>
                  <a:srgbClr val="666666"/>
                </a:solidFill>
              </a:defRPr>
            </a:pPr>
            <a:r>
              <a:t>  — hal Q4 2025 transcript  |  Oilfield Cost Pressure  |  conf 0.85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Evidence Trends: Monthly Text Signal Volume</a:t>
            </a:r>
          </a:p>
        </p:txBody>
      </p:sp>
      <p:pic>
        <p:nvPicPr>
          <p:cNvPr id="3" name="Picture 2" descr="signal_trends_timeseries.png"/>
          <p:cNvPicPr>
            <a:picLocks noChangeAspect="1"/>
          </p:cNvPicPr>
          <p:nvPr/>
        </p:nvPicPr>
        <p:blipFill>
          <a:blip r:embed="rId2"/>
          <a:stretch>
            <a:fillRect/>
          </a:stretch>
        </p:blipFill>
        <p:spPr>
          <a:xfrm>
            <a:off x="1371600" y="1188720"/>
            <a:ext cx="9144000" cy="5029200"/>
          </a:xfrm>
          <a:prstGeom prst="rect">
            <a:avLst/>
          </a:prstGeom>
        </p:spPr>
      </p:pic>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Monthly evolution of classified text signals. Descriptive, not predictive. See validation report for predictive power analysis.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Evidence Frequency: Category Distribution</a:t>
            </a:r>
          </a:p>
        </p:txBody>
      </p:sp>
      <p:pic>
        <p:nvPicPr>
          <p:cNvPr id="3" name="Picture 2" descr="energy_signal_frequency.png"/>
          <p:cNvPicPr>
            <a:picLocks noChangeAspect="1"/>
          </p:cNvPicPr>
          <p:nvPr/>
        </p:nvPicPr>
        <p:blipFill>
          <a:blip r:embed="rId2"/>
          <a:stretch>
            <a:fillRect/>
          </a:stretch>
        </p:blipFill>
        <p:spPr>
          <a:xfrm>
            <a:off x="1371600" y="1188720"/>
            <a:ext cx="9144000" cy="5029200"/>
          </a:xfrm>
          <a:prstGeom prst="rect">
            <a:avLst/>
          </a:prstGeom>
        </p:spPr>
      </p:pic>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Text-classified paragraphs from public sources. Distribution reflects document sampling, not necessarily market reality.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Valuation: Peer Comparables</a:t>
            </a:r>
          </a:p>
        </p:txBody>
      </p:sp>
      <p:graphicFrame>
        <p:nvGraphicFramePr>
          <p:cNvPr id="3" name="Table 2"/>
          <p:cNvGraphicFramePr>
            <a:graphicFrameLocks noGrp="1"/>
          </p:cNvGraphicFramePr>
          <p:nvPr/>
        </p:nvGraphicFramePr>
        <p:xfrm>
          <a:off x="640080" y="1188720"/>
          <a:ext cx="10972800" cy="438912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gridCol w="1371600"/>
                <a:gridCol w="1371600"/>
              </a:tblGrid>
              <a:tr h="399010">
                <a:tc>
                  <a:txBody>
                    <a:bodyPr/>
                    <a:lstStyle/>
                    <a:p>
                      <a:r>
                        <a:rPr sz="1200" b="1">
                          <a:solidFill>
                            <a:srgbClr val="FFFFFF"/>
                          </a:solidFill>
                        </a:rPr>
                        <a:t>Company</a:t>
                      </a:r>
                    </a:p>
                  </a:txBody>
                  <a:tcPr>
                    <a:solidFill>
                      <a:srgbClr val="002F5D"/>
                    </a:solidFill>
                  </a:tcPr>
                </a:tc>
                <a:tc>
                  <a:txBody>
                    <a:bodyPr/>
                    <a:lstStyle/>
                    <a:p>
                      <a:r>
                        <a:rPr sz="1200" b="1">
                          <a:solidFill>
                            <a:srgbClr val="FFFFFF"/>
                          </a:solidFill>
                        </a:rPr>
                        <a:t>Ticker</a:t>
                      </a:r>
                    </a:p>
                  </a:txBody>
                  <a:tcPr>
                    <a:solidFill>
                      <a:srgbClr val="002F5D"/>
                    </a:solidFill>
                  </a:tcPr>
                </a:tc>
                <a:tc>
                  <a:txBody>
                    <a:bodyPr/>
                    <a:lstStyle/>
                    <a:p>
                      <a:r>
                        <a:rPr sz="1200" b="1">
                          <a:solidFill>
                            <a:srgbClr val="FFFFFF"/>
                          </a:solidFill>
                        </a:rPr>
                        <a:t>Sector</a:t>
                      </a:r>
                    </a:p>
                  </a:txBody>
                  <a:tcPr>
                    <a:solidFill>
                      <a:srgbClr val="002F5D"/>
                    </a:solidFill>
                  </a:tcPr>
                </a:tc>
                <a:tc>
                  <a:txBody>
                    <a:bodyPr/>
                    <a:lstStyle/>
                    <a:p>
                      <a:r>
                        <a:rPr sz="1200" b="1">
                          <a:solidFill>
                            <a:srgbClr val="FFFFFF"/>
                          </a:solidFill>
                        </a:rPr>
                        <a:t>P E</a:t>
                      </a:r>
                    </a:p>
                  </a:txBody>
                  <a:tcPr>
                    <a:solidFill>
                      <a:srgbClr val="002F5D"/>
                    </a:solidFill>
                  </a:tcPr>
                </a:tc>
                <a:tc>
                  <a:txBody>
                    <a:bodyPr/>
                    <a:lstStyle/>
                    <a:p>
                      <a:r>
                        <a:rPr sz="1200" b="1">
                          <a:solidFill>
                            <a:srgbClr val="FFFFFF"/>
                          </a:solidFill>
                        </a:rPr>
                        <a:t>Ev Ebitda</a:t>
                      </a:r>
                    </a:p>
                  </a:txBody>
                  <a:tcPr>
                    <a:solidFill>
                      <a:srgbClr val="002F5D"/>
                    </a:solidFill>
                  </a:tcPr>
                </a:tc>
                <a:tc>
                  <a:txBody>
                    <a:bodyPr/>
                    <a:lstStyle/>
                    <a:p>
                      <a:r>
                        <a:rPr sz="1200" b="1">
                          <a:solidFill>
                            <a:srgbClr val="FFFFFF"/>
                          </a:solidFill>
                        </a:rPr>
                        <a:t>Roic</a:t>
                      </a:r>
                    </a:p>
                  </a:txBody>
                  <a:tcPr>
                    <a:solidFill>
                      <a:srgbClr val="002F5D"/>
                    </a:solidFill>
                  </a:tcPr>
                </a:tc>
                <a:tc>
                  <a:txBody>
                    <a:bodyPr/>
                    <a:lstStyle/>
                    <a:p>
                      <a:r>
                        <a:rPr sz="1200" b="1">
                          <a:solidFill>
                            <a:srgbClr val="FFFFFF"/>
                          </a:solidFill>
                        </a:rPr>
                        <a:t>Revenue Growth</a:t>
                      </a:r>
                    </a:p>
                  </a:txBody>
                  <a:tcPr>
                    <a:solidFill>
                      <a:srgbClr val="002F5D"/>
                    </a:solidFill>
                  </a:tcPr>
                </a:tc>
                <a:tc>
                  <a:txBody>
                    <a:bodyPr/>
                    <a:lstStyle/>
                    <a:p>
                      <a:r>
                        <a:rPr sz="1200" b="1">
                          <a:solidFill>
                            <a:srgbClr val="FFFFFF"/>
                          </a:solidFill>
                        </a:rPr>
                        <a:t>Profit Margin</a:t>
                      </a:r>
                    </a:p>
                  </a:txBody>
                  <a:tcPr>
                    <a:solidFill>
                      <a:srgbClr val="002F5D"/>
                    </a:solidFill>
                  </a:tcPr>
                </a:tc>
              </a:tr>
              <a:tr h="399010">
                <a:tc>
                  <a:txBody>
                    <a:bodyPr/>
                    <a:lstStyle/>
                    <a:p>
                      <a:r>
                        <a:rPr sz="1100">
                          <a:solidFill>
                            <a:srgbClr val="1A1A1A"/>
                          </a:solidFill>
                        </a:rPr>
                        <a:t>SIEYUAN ELECTRIC CO LTD</a:t>
                      </a:r>
                    </a:p>
                  </a:txBody>
                  <a:tcPr/>
                </a:tc>
                <a:tc>
                  <a:txBody>
                    <a:bodyPr/>
                    <a:lstStyle/>
                    <a:p>
                      <a:r>
                        <a:rPr sz="1100">
                          <a:solidFill>
                            <a:srgbClr val="1A1A1A"/>
                          </a:solidFill>
                        </a:rPr>
                        <a:t>002028.SZ</a:t>
                      </a:r>
                    </a:p>
                  </a:txBody>
                  <a:tcPr/>
                </a:tc>
                <a:tc>
                  <a:txBody>
                    <a:bodyPr/>
                    <a:lstStyle/>
                    <a:p>
                      <a:r>
                        <a:rPr sz="1100">
                          <a:solidFill>
                            <a:srgbClr val="1A1A1A"/>
                          </a:solidFill>
                        </a:rPr>
                        <a:t>Grid / Power Equipment</a:t>
                      </a:r>
                    </a:p>
                  </a:txBody>
                  <a:tcPr/>
                </a:tc>
                <a:tc>
                  <a:txBody>
                    <a:bodyPr/>
                    <a:lstStyle/>
                    <a:p>
                      <a:r>
                        <a:rPr sz="1100">
                          <a:solidFill>
                            <a:srgbClr val="1A1A1A"/>
                          </a:solidFill>
                        </a:rPr>
                        <a:t>47.0x</a:t>
                      </a:r>
                    </a:p>
                  </a:txBody>
                  <a:tcPr/>
                </a:tc>
                <a:tc>
                  <a:txBody>
                    <a:bodyPr/>
                    <a:lstStyle/>
                    <a:p>
                      <a:r>
                        <a:rPr sz="1100">
                          <a:solidFill>
                            <a:srgbClr val="1A1A1A"/>
                          </a:solidFill>
                        </a:rPr>
                        <a:t>40.0x</a:t>
                      </a:r>
                    </a:p>
                  </a:txBody>
                  <a:tcPr/>
                </a:tc>
                <a:tc>
                  <a:txBody>
                    <a:bodyPr/>
                    <a:lstStyle/>
                    <a:p/>
                  </a:txBody>
                  <a:tcPr/>
                </a:tc>
                <a:tc>
                  <a:txBody>
                    <a:bodyPr/>
                    <a:lstStyle/>
                    <a:p>
                      <a:r>
                        <a:rPr sz="1100">
                          <a:solidFill>
                            <a:srgbClr val="1A1A1A"/>
                          </a:solidFill>
                        </a:rPr>
                        <a:t>41.6%</a:t>
                      </a:r>
                    </a:p>
                  </a:txBody>
                  <a:tcPr/>
                </a:tc>
                <a:tc>
                  <a:txBody>
                    <a:bodyPr/>
                    <a:lstStyle/>
                    <a:p>
                      <a:r>
                        <a:rPr sz="1100">
                          <a:solidFill>
                            <a:srgbClr val="1A1A1A"/>
                          </a:solidFill>
                        </a:rPr>
                        <a:t>14.2%</a:t>
                      </a:r>
                    </a:p>
                  </a:txBody>
                  <a:tcPr/>
                </a:tc>
              </a:tr>
              <a:tr h="399010">
                <a:tc>
                  <a:txBody>
                    <a:bodyPr/>
                    <a:lstStyle/>
                    <a:p>
                      <a:r>
                        <a:rPr sz="1100">
                          <a:solidFill>
                            <a:srgbClr val="1A1A1A"/>
                          </a:solidFill>
                        </a:rPr>
                        <a:t>GE Vernova Inc.</a:t>
                      </a:r>
                    </a:p>
                  </a:txBody>
                  <a:tcPr/>
                </a:tc>
                <a:tc>
                  <a:txBody>
                    <a:bodyPr/>
                    <a:lstStyle/>
                    <a:p>
                      <a:r>
                        <a:rPr sz="1100">
                          <a:solidFill>
                            <a:srgbClr val="1A1A1A"/>
                          </a:solidFill>
                        </a:rPr>
                        <a:t>GEV</a:t>
                      </a:r>
                    </a:p>
                  </a:txBody>
                  <a:tcPr/>
                </a:tc>
                <a:tc>
                  <a:txBody>
                    <a:bodyPr/>
                    <a:lstStyle/>
                    <a:p>
                      <a:r>
                        <a:rPr sz="1100">
                          <a:solidFill>
                            <a:srgbClr val="1A1A1A"/>
                          </a:solidFill>
                        </a:rPr>
                        <a:t>Grid / Power Equipment</a:t>
                      </a:r>
                    </a:p>
                  </a:txBody>
                  <a:tcPr/>
                </a:tc>
                <a:tc>
                  <a:txBody>
                    <a:bodyPr/>
                    <a:lstStyle/>
                    <a:p>
                      <a:r>
                        <a:rPr sz="1100">
                          <a:solidFill>
                            <a:srgbClr val="1A1A1A"/>
                          </a:solidFill>
                        </a:rPr>
                        <a:t>32.8x</a:t>
                      </a:r>
                    </a:p>
                  </a:txBody>
                  <a:tcPr/>
                </a:tc>
                <a:tc>
                  <a:txBody>
                    <a:bodyPr/>
                    <a:lstStyle/>
                    <a:p>
                      <a:r>
                        <a:rPr sz="1100">
                          <a:solidFill>
                            <a:srgbClr val="1A1A1A"/>
                          </a:solidFill>
                        </a:rPr>
                        <a:t>86.7x</a:t>
                      </a:r>
                    </a:p>
                  </a:txBody>
                  <a:tcPr/>
                </a:tc>
                <a:tc>
                  <a:txBody>
                    <a:bodyPr/>
                    <a:lstStyle/>
                    <a:p/>
                  </a:txBody>
                  <a:tcPr/>
                </a:tc>
                <a:tc>
                  <a:txBody>
                    <a:bodyPr/>
                    <a:lstStyle/>
                    <a:p>
                      <a:r>
                        <a:rPr sz="1100">
                          <a:solidFill>
                            <a:srgbClr val="1A1A1A"/>
                          </a:solidFill>
                        </a:rPr>
                        <a:t>16.3%</a:t>
                      </a:r>
                    </a:p>
                  </a:txBody>
                  <a:tcPr/>
                </a:tc>
                <a:tc>
                  <a:txBody>
                    <a:bodyPr/>
                    <a:lstStyle/>
                    <a:p>
                      <a:r>
                        <a:rPr sz="1100">
                          <a:solidFill>
                            <a:srgbClr val="1A1A1A"/>
                          </a:solidFill>
                        </a:rPr>
                        <a:t>23.8%</a:t>
                      </a:r>
                    </a:p>
                  </a:txBody>
                  <a:tcPr/>
                </a:tc>
              </a:tr>
              <a:tr h="399010">
                <a:tc>
                  <a:txBody>
                    <a:bodyPr/>
                    <a:lstStyle/>
                    <a:p>
                      <a:r>
                        <a:rPr sz="1100">
                          <a:solidFill>
                            <a:srgbClr val="1A1A1A"/>
                          </a:solidFill>
                        </a:rPr>
                        <a:t>Quanta Services, Inc.</a:t>
                      </a:r>
                    </a:p>
                  </a:txBody>
                  <a:tcPr/>
                </a:tc>
                <a:tc>
                  <a:txBody>
                    <a:bodyPr/>
                    <a:lstStyle/>
                    <a:p>
                      <a:r>
                        <a:rPr sz="1100">
                          <a:solidFill>
                            <a:srgbClr val="1A1A1A"/>
                          </a:solidFill>
                        </a:rPr>
                        <a:t>PWR</a:t>
                      </a:r>
                    </a:p>
                  </a:txBody>
                  <a:tcPr/>
                </a:tc>
                <a:tc>
                  <a:txBody>
                    <a:bodyPr/>
                    <a:lstStyle/>
                    <a:p>
                      <a:r>
                        <a:rPr sz="1100">
                          <a:solidFill>
                            <a:srgbClr val="1A1A1A"/>
                          </a:solidFill>
                        </a:rPr>
                        <a:t>Grid / Power Equipment</a:t>
                      </a:r>
                    </a:p>
                  </a:txBody>
                  <a:tcPr/>
                </a:tc>
                <a:tc>
                  <a:txBody>
                    <a:bodyPr/>
                    <a:lstStyle/>
                    <a:p>
                      <a:r>
                        <a:rPr sz="1100">
                          <a:solidFill>
                            <a:srgbClr val="1A1A1A"/>
                          </a:solidFill>
                        </a:rPr>
                        <a:t>93.4x</a:t>
                      </a:r>
                    </a:p>
                  </a:txBody>
                  <a:tcPr/>
                </a:tc>
                <a:tc>
                  <a:txBody>
                    <a:bodyPr/>
                    <a:lstStyle/>
                    <a:p>
                      <a:r>
                        <a:rPr sz="1100">
                          <a:solidFill>
                            <a:srgbClr val="1A1A1A"/>
                          </a:solidFill>
                        </a:rPr>
                        <a:t>40.6x</a:t>
                      </a:r>
                    </a:p>
                  </a:txBody>
                  <a:tcPr/>
                </a:tc>
                <a:tc>
                  <a:txBody>
                    <a:bodyPr/>
                    <a:lstStyle/>
                    <a:p/>
                  </a:txBody>
                  <a:tcPr/>
                </a:tc>
                <a:tc>
                  <a:txBody>
                    <a:bodyPr/>
                    <a:lstStyle/>
                    <a:p>
                      <a:r>
                        <a:rPr sz="1100">
                          <a:solidFill>
                            <a:srgbClr val="1A1A1A"/>
                          </a:solidFill>
                        </a:rPr>
                        <a:t>19.7%</a:t>
                      </a:r>
                    </a:p>
                  </a:txBody>
                  <a:tcPr/>
                </a:tc>
                <a:tc>
                  <a:txBody>
                    <a:bodyPr/>
                    <a:lstStyle/>
                    <a:p>
                      <a:r>
                        <a:rPr sz="1100">
                          <a:solidFill>
                            <a:srgbClr val="1A1A1A"/>
                          </a:solidFill>
                        </a:rPr>
                        <a:t>3.6%</a:t>
                      </a:r>
                    </a:p>
                  </a:txBody>
                  <a:tcPr/>
                </a:tc>
              </a:tr>
              <a:tr h="399010">
                <a:tc>
                  <a:txBody>
                    <a:bodyPr/>
                    <a:lstStyle/>
                    <a:p>
                      <a:r>
                        <a:rPr sz="1100">
                          <a:solidFill>
                            <a:srgbClr val="1A1A1A"/>
                          </a:solidFill>
                        </a:rPr>
                        <a:t>Eaton Corporation, PLC</a:t>
                      </a:r>
                    </a:p>
                  </a:txBody>
                  <a:tcPr/>
                </a:tc>
                <a:tc>
                  <a:txBody>
                    <a:bodyPr/>
                    <a:lstStyle/>
                    <a:p>
                      <a:r>
                        <a:rPr sz="1100">
                          <a:solidFill>
                            <a:srgbClr val="1A1A1A"/>
                          </a:solidFill>
                        </a:rPr>
                        <a:t>ETN</a:t>
                      </a:r>
                    </a:p>
                  </a:txBody>
                  <a:tcPr/>
                </a:tc>
                <a:tc>
                  <a:txBody>
                    <a:bodyPr/>
                    <a:lstStyle/>
                    <a:p>
                      <a:r>
                        <a:rPr sz="1100">
                          <a:solidFill>
                            <a:srgbClr val="1A1A1A"/>
                          </a:solidFill>
                        </a:rPr>
                        <a:t>Grid / Power Equipment</a:t>
                      </a:r>
                    </a:p>
                  </a:txBody>
                  <a:tcPr/>
                </a:tc>
                <a:tc>
                  <a:txBody>
                    <a:bodyPr/>
                    <a:lstStyle/>
                    <a:p>
                      <a:r>
                        <a:rPr sz="1100">
                          <a:solidFill>
                            <a:srgbClr val="1A1A1A"/>
                          </a:solidFill>
                        </a:rPr>
                        <a:t>39.8x</a:t>
                      </a:r>
                    </a:p>
                  </a:txBody>
                  <a:tcPr/>
                </a:tc>
                <a:tc>
                  <a:txBody>
                    <a:bodyPr/>
                    <a:lstStyle/>
                    <a:p>
                      <a:r>
                        <a:rPr sz="1100">
                          <a:solidFill>
                            <a:srgbClr val="1A1A1A"/>
                          </a:solidFill>
                        </a:rPr>
                        <a:t>27.2x</a:t>
                      </a:r>
                    </a:p>
                  </a:txBody>
                  <a:tcPr/>
                </a:tc>
                <a:tc>
                  <a:txBody>
                    <a:bodyPr/>
                    <a:lstStyle/>
                    <a:p/>
                  </a:txBody>
                  <a:tcPr/>
                </a:tc>
                <a:tc>
                  <a:txBody>
                    <a:bodyPr/>
                    <a:lstStyle/>
                    <a:p>
                      <a:r>
                        <a:rPr sz="1100">
                          <a:solidFill>
                            <a:srgbClr val="1A1A1A"/>
                          </a:solidFill>
                        </a:rPr>
                        <a:t>13.1%</a:t>
                      </a:r>
                    </a:p>
                  </a:txBody>
                  <a:tcPr/>
                </a:tc>
                <a:tc>
                  <a:txBody>
                    <a:bodyPr/>
                    <a:lstStyle/>
                    <a:p>
                      <a:r>
                        <a:rPr sz="1100">
                          <a:solidFill>
                            <a:srgbClr val="1A1A1A"/>
                          </a:solidFill>
                        </a:rPr>
                        <a:t>14.9%</a:t>
                      </a:r>
                    </a:p>
                  </a:txBody>
                  <a:tcPr/>
                </a:tc>
              </a:tr>
              <a:tr h="399010">
                <a:tc>
                  <a:txBody>
                    <a:bodyPr/>
                    <a:lstStyle/>
                    <a:p>
                      <a:r>
                        <a:rPr sz="1100">
                          <a:solidFill>
                            <a:srgbClr val="1A1A1A"/>
                          </a:solidFill>
                        </a:rPr>
                        <a:t>ABB</a:t>
                      </a:r>
                    </a:p>
                  </a:txBody>
                  <a:tcPr/>
                </a:tc>
                <a:tc>
                  <a:txBody>
                    <a:bodyPr/>
                    <a:lstStyle/>
                    <a:p>
                      <a:r>
                        <a:rPr sz="1100">
                          <a:solidFill>
                            <a:srgbClr val="1A1A1A"/>
                          </a:solidFill>
                        </a:rPr>
                        <a:t>ABB</a:t>
                      </a:r>
                    </a:p>
                  </a:txBody>
                  <a:tcPr/>
                </a:tc>
                <a:tc>
                  <a:txBody>
                    <a:bodyPr/>
                    <a:lstStyle/>
                    <a:p>
                      <a:r>
                        <a:rPr sz="1100">
                          <a:solidFill>
                            <a:srgbClr val="1A1A1A"/>
                          </a:solidFill>
                        </a:rPr>
                        <a:t>Grid / Power Equipment</a:t>
                      </a:r>
                    </a:p>
                  </a:txBody>
                  <a:tcPr/>
                </a:tc>
                <a:tc>
                  <a:txBody>
                    <a:bodyPr/>
                    <a:lstStyle/>
                    <a:p/>
                  </a:txBody>
                  <a:tcPr/>
                </a:tc>
                <a:tc>
                  <a:txBody>
                    <a:bodyPr/>
                    <a:lstStyle/>
                    <a:p/>
                  </a:txBody>
                  <a:tcPr/>
                </a:tc>
                <a:tc>
                  <a:txBody>
                    <a:bodyPr/>
                    <a:lstStyle/>
                    <a:p/>
                  </a:txBody>
                  <a:tcPr/>
                </a:tc>
                <a:tc>
                  <a:txBody>
                    <a:bodyPr/>
                    <a:lstStyle/>
                    <a:p/>
                  </a:txBody>
                  <a:tcPr/>
                </a:tc>
                <a:tc>
                  <a:txBody>
                    <a:bodyPr/>
                    <a:lstStyle/>
                    <a:p/>
                  </a:txBody>
                  <a:tcPr/>
                </a:tc>
              </a:tr>
              <a:tr h="399010">
                <a:tc>
                  <a:txBody>
                    <a:bodyPr/>
                    <a:lstStyle/>
                    <a:p>
                      <a:r>
                        <a:rPr sz="1100">
                          <a:solidFill>
                            <a:srgbClr val="1A1A1A"/>
                          </a:solidFill>
                        </a:rPr>
                        <a:t>SCHNEIDER ELECTRIC SE</a:t>
                      </a:r>
                    </a:p>
                  </a:txBody>
                  <a:tcPr/>
                </a:tc>
                <a:tc>
                  <a:txBody>
                    <a:bodyPr/>
                    <a:lstStyle/>
                    <a:p>
                      <a:r>
                        <a:rPr sz="1100">
                          <a:solidFill>
                            <a:srgbClr val="1A1A1A"/>
                          </a:solidFill>
                        </a:rPr>
                        <a:t>SU.PA</a:t>
                      </a:r>
                    </a:p>
                  </a:txBody>
                  <a:tcPr/>
                </a:tc>
                <a:tc>
                  <a:txBody>
                    <a:bodyPr/>
                    <a:lstStyle/>
                    <a:p>
                      <a:r>
                        <a:rPr sz="1100">
                          <a:solidFill>
                            <a:srgbClr val="1A1A1A"/>
                          </a:solidFill>
                        </a:rPr>
                        <a:t>Grid / Power Equipment</a:t>
                      </a:r>
                    </a:p>
                  </a:txBody>
                  <a:tcPr/>
                </a:tc>
                <a:tc>
                  <a:txBody>
                    <a:bodyPr/>
                    <a:lstStyle/>
                    <a:p>
                      <a:r>
                        <a:rPr sz="1100">
                          <a:solidFill>
                            <a:srgbClr val="1A1A1A"/>
                          </a:solidFill>
                        </a:rPr>
                        <a:t>33.8x</a:t>
                      </a:r>
                    </a:p>
                  </a:txBody>
                  <a:tcPr/>
                </a:tc>
                <a:tc>
                  <a:txBody>
                    <a:bodyPr/>
                    <a:lstStyle/>
                    <a:p>
                      <a:r>
                        <a:rPr sz="1100">
                          <a:solidFill>
                            <a:srgbClr val="1A1A1A"/>
                          </a:solidFill>
                        </a:rPr>
                        <a:t>21.5x</a:t>
                      </a:r>
                    </a:p>
                  </a:txBody>
                  <a:tcPr/>
                </a:tc>
                <a:tc>
                  <a:txBody>
                    <a:bodyPr/>
                    <a:lstStyle/>
                    <a:p/>
                  </a:txBody>
                  <a:tcPr/>
                </a:tc>
                <a:tc>
                  <a:txBody>
                    <a:bodyPr/>
                    <a:lstStyle/>
                    <a:p>
                      <a:r>
                        <a:rPr sz="1100">
                          <a:solidFill>
                            <a:srgbClr val="1A1A1A"/>
                          </a:solidFill>
                        </a:rPr>
                        <a:t>4.2%</a:t>
                      </a:r>
                    </a:p>
                  </a:txBody>
                  <a:tcPr/>
                </a:tc>
                <a:tc>
                  <a:txBody>
                    <a:bodyPr/>
                    <a:lstStyle/>
                    <a:p>
                      <a:r>
                        <a:rPr sz="1100">
                          <a:solidFill>
                            <a:srgbClr val="1A1A1A"/>
                          </a:solidFill>
                        </a:rPr>
                        <a:t>10.4%</a:t>
                      </a:r>
                    </a:p>
                  </a:txBody>
                  <a:tcPr/>
                </a:tc>
              </a:tr>
              <a:tr h="399010">
                <a:tc>
                  <a:txBody>
                    <a:bodyPr/>
                    <a:lstStyle/>
                    <a:p>
                      <a:r>
                        <a:rPr sz="1100">
                          <a:solidFill>
                            <a:srgbClr val="1A1A1A"/>
                          </a:solidFill>
                        </a:rPr>
                        <a:t>Halliburton Company</a:t>
                      </a:r>
                    </a:p>
                  </a:txBody>
                  <a:tcPr/>
                </a:tc>
                <a:tc>
                  <a:txBody>
                    <a:bodyPr/>
                    <a:lstStyle/>
                    <a:p>
                      <a:r>
                        <a:rPr sz="1100">
                          <a:solidFill>
                            <a:srgbClr val="1A1A1A"/>
                          </a:solidFill>
                        </a:rPr>
                        <a:t>HAL</a:t>
                      </a:r>
                    </a:p>
                  </a:txBody>
                  <a:tcPr/>
                </a:tc>
                <a:tc>
                  <a:txBody>
                    <a:bodyPr/>
                    <a:lstStyle/>
                    <a:p>
                      <a:r>
                        <a:rPr sz="1100">
                          <a:solidFill>
                            <a:srgbClr val="1A1A1A"/>
                          </a:solidFill>
                        </a:rPr>
                        <a:t>Oilfield Services</a:t>
                      </a:r>
                    </a:p>
                  </a:txBody>
                  <a:tcPr/>
                </a:tc>
                <a:tc>
                  <a:txBody>
                    <a:bodyPr/>
                    <a:lstStyle/>
                    <a:p>
                      <a:r>
                        <a:rPr sz="1100">
                          <a:solidFill>
                            <a:srgbClr val="1A1A1A"/>
                          </a:solidFill>
                        </a:rPr>
                        <a:t>22.2x</a:t>
                      </a:r>
                    </a:p>
                  </a:txBody>
                  <a:tcPr/>
                </a:tc>
                <a:tc>
                  <a:txBody>
                    <a:bodyPr/>
                    <a:lstStyle/>
                    <a:p>
                      <a:r>
                        <a:rPr sz="1100">
                          <a:solidFill>
                            <a:srgbClr val="1A1A1A"/>
                          </a:solidFill>
                        </a:rPr>
                        <a:t>9.6x</a:t>
                      </a:r>
                    </a:p>
                  </a:txBody>
                  <a:tcPr/>
                </a:tc>
                <a:tc>
                  <a:txBody>
                    <a:bodyPr/>
                    <a:lstStyle/>
                    <a:p/>
                  </a:txBody>
                  <a:tcPr/>
                </a:tc>
                <a:tc>
                  <a:txBody>
                    <a:bodyPr/>
                    <a:lstStyle/>
                    <a:p>
                      <a:r>
                        <a:rPr sz="1100">
                          <a:solidFill>
                            <a:srgbClr val="1A1A1A"/>
                          </a:solidFill>
                        </a:rPr>
                        <a:t>-0.3%</a:t>
                      </a:r>
                    </a:p>
                  </a:txBody>
                  <a:tcPr/>
                </a:tc>
                <a:tc>
                  <a:txBody>
                    <a:bodyPr/>
                    <a:lstStyle/>
                    <a:p>
                      <a:r>
                        <a:rPr sz="1100">
                          <a:solidFill>
                            <a:srgbClr val="1A1A1A"/>
                          </a:solidFill>
                        </a:rPr>
                        <a:t>6.9%</a:t>
                      </a:r>
                    </a:p>
                  </a:txBody>
                  <a:tcPr/>
                </a:tc>
              </a:tr>
              <a:tr h="399010">
                <a:tc>
                  <a:txBody>
                    <a:bodyPr/>
                    <a:lstStyle/>
                    <a:p>
                      <a:r>
                        <a:rPr sz="1100">
                          <a:solidFill>
                            <a:srgbClr val="1A1A1A"/>
                          </a:solidFill>
                        </a:rPr>
                        <a:t>SLB Limited</a:t>
                      </a:r>
                    </a:p>
                  </a:txBody>
                  <a:tcPr/>
                </a:tc>
                <a:tc>
                  <a:txBody>
                    <a:bodyPr/>
                    <a:lstStyle/>
                    <a:p>
                      <a:r>
                        <a:rPr sz="1100">
                          <a:solidFill>
                            <a:srgbClr val="1A1A1A"/>
                          </a:solidFill>
                        </a:rPr>
                        <a:t>SLB</a:t>
                      </a:r>
                    </a:p>
                  </a:txBody>
                  <a:tcPr/>
                </a:tc>
                <a:tc>
                  <a:txBody>
                    <a:bodyPr/>
                    <a:lstStyle/>
                    <a:p>
                      <a:r>
                        <a:rPr sz="1100">
                          <a:solidFill>
                            <a:srgbClr val="1A1A1A"/>
                          </a:solidFill>
                        </a:rPr>
                        <a:t>Oilfield Services</a:t>
                      </a:r>
                    </a:p>
                  </a:txBody>
                  <a:tcPr/>
                </a:tc>
                <a:tc>
                  <a:txBody>
                    <a:bodyPr/>
                    <a:lstStyle/>
                    <a:p>
                      <a:r>
                        <a:rPr sz="1100">
                          <a:solidFill>
                            <a:srgbClr val="1A1A1A"/>
                          </a:solidFill>
                        </a:rPr>
                        <a:t>24.3x</a:t>
                      </a:r>
                    </a:p>
                  </a:txBody>
                  <a:tcPr/>
                </a:tc>
                <a:tc>
                  <a:txBody>
                    <a:bodyPr/>
                    <a:lstStyle/>
                    <a:p>
                      <a:r>
                        <a:rPr sz="1100">
                          <a:solidFill>
                            <a:srgbClr val="1A1A1A"/>
                          </a:solidFill>
                        </a:rPr>
                        <a:t>12.3x</a:t>
                      </a:r>
                    </a:p>
                  </a:txBody>
                  <a:tcPr/>
                </a:tc>
                <a:tc>
                  <a:txBody>
                    <a:bodyPr/>
                    <a:lstStyle/>
                    <a:p/>
                  </a:txBody>
                  <a:tcPr/>
                </a:tc>
                <a:tc>
                  <a:txBody>
                    <a:bodyPr/>
                    <a:lstStyle/>
                    <a:p>
                      <a:r>
                        <a:rPr sz="1100">
                          <a:solidFill>
                            <a:srgbClr val="1A1A1A"/>
                          </a:solidFill>
                        </a:rPr>
                        <a:t>2.7%</a:t>
                      </a:r>
                    </a:p>
                  </a:txBody>
                  <a:tcPr/>
                </a:tc>
                <a:tc>
                  <a:txBody>
                    <a:bodyPr/>
                    <a:lstStyle/>
                    <a:p>
                      <a:r>
                        <a:rPr sz="1100">
                          <a:solidFill>
                            <a:srgbClr val="1A1A1A"/>
                          </a:solidFill>
                        </a:rPr>
                        <a:t>9.3%</a:t>
                      </a:r>
                    </a:p>
                  </a:txBody>
                  <a:tcPr/>
                </a:tc>
              </a:tr>
              <a:tr h="399010">
                <a:tc>
                  <a:txBody>
                    <a:bodyPr/>
                    <a:lstStyle/>
                    <a:p>
                      <a:r>
                        <a:rPr sz="1100">
                          <a:solidFill>
                            <a:srgbClr val="1A1A1A"/>
                          </a:solidFill>
                        </a:rPr>
                        <a:t>Baker Hughes Company</a:t>
                      </a:r>
                    </a:p>
                  </a:txBody>
                  <a:tcPr/>
                </a:tc>
                <a:tc>
                  <a:txBody>
                    <a:bodyPr/>
                    <a:lstStyle/>
                    <a:p>
                      <a:r>
                        <a:rPr sz="1100">
                          <a:solidFill>
                            <a:srgbClr val="1A1A1A"/>
                          </a:solidFill>
                        </a:rPr>
                        <a:t>BKR</a:t>
                      </a:r>
                    </a:p>
                  </a:txBody>
                  <a:tcPr/>
                </a:tc>
                <a:tc>
                  <a:txBody>
                    <a:bodyPr/>
                    <a:lstStyle/>
                    <a:p>
                      <a:r>
                        <a:rPr sz="1100">
                          <a:solidFill>
                            <a:srgbClr val="1A1A1A"/>
                          </a:solidFill>
                        </a:rPr>
                        <a:t>Oilfield Services</a:t>
                      </a:r>
                    </a:p>
                  </a:txBody>
                  <a:tcPr/>
                </a:tc>
                <a:tc>
                  <a:txBody>
                    <a:bodyPr/>
                    <a:lstStyle/>
                    <a:p>
                      <a:r>
                        <a:rPr sz="1100">
                          <a:solidFill>
                            <a:srgbClr val="1A1A1A"/>
                          </a:solidFill>
                        </a:rPr>
                        <a:t>21.8x</a:t>
                      </a:r>
                    </a:p>
                  </a:txBody>
                  <a:tcPr/>
                </a:tc>
                <a:tc>
                  <a:txBody>
                    <a:bodyPr/>
                    <a:lstStyle/>
                    <a:p>
                      <a:r>
                        <a:rPr sz="1100">
                          <a:solidFill>
                            <a:srgbClr val="1A1A1A"/>
                          </a:solidFill>
                        </a:rPr>
                        <a:t>14.2x</a:t>
                      </a:r>
                    </a:p>
                  </a:txBody>
                  <a:tcPr/>
                </a:tc>
                <a:tc>
                  <a:txBody>
                    <a:bodyPr/>
                    <a:lstStyle/>
                    <a:p/>
                  </a:txBody>
                  <a:tcPr/>
                </a:tc>
                <a:tc>
                  <a:txBody>
                    <a:bodyPr/>
                    <a:lstStyle/>
                    <a:p>
                      <a:r>
                        <a:rPr sz="1100">
                          <a:solidFill>
                            <a:srgbClr val="1A1A1A"/>
                          </a:solidFill>
                        </a:rPr>
                        <a:t>2.5%</a:t>
                      </a:r>
                    </a:p>
                  </a:txBody>
                  <a:tcPr/>
                </a:tc>
                <a:tc>
                  <a:txBody>
                    <a:bodyPr/>
                    <a:lstStyle/>
                    <a:p>
                      <a:r>
                        <a:rPr sz="1100">
                          <a:solidFill>
                            <a:srgbClr val="1A1A1A"/>
                          </a:solidFill>
                        </a:rPr>
                        <a:t>11.2%</a:t>
                      </a:r>
                    </a:p>
                  </a:txBody>
                  <a:tcPr/>
                </a:tc>
              </a:tr>
              <a:tr h="399020">
                <a:tc>
                  <a:txBody>
                    <a:bodyPr/>
                    <a:lstStyle/>
                    <a:p>
                      <a:r>
                        <a:rPr sz="1100">
                          <a:solidFill>
                            <a:srgbClr val="1A1A1A"/>
                          </a:solidFill>
                        </a:rPr>
                        <a:t>NOV Inc.</a:t>
                      </a:r>
                    </a:p>
                  </a:txBody>
                  <a:tcPr/>
                </a:tc>
                <a:tc>
                  <a:txBody>
                    <a:bodyPr/>
                    <a:lstStyle/>
                    <a:p>
                      <a:r>
                        <a:rPr sz="1100">
                          <a:solidFill>
                            <a:srgbClr val="1A1A1A"/>
                          </a:solidFill>
                        </a:rPr>
                        <a:t>NOV</a:t>
                      </a:r>
                    </a:p>
                  </a:txBody>
                  <a:tcPr/>
                </a:tc>
                <a:tc>
                  <a:txBody>
                    <a:bodyPr/>
                    <a:lstStyle/>
                    <a:p>
                      <a:r>
                        <a:rPr sz="1100">
                          <a:solidFill>
                            <a:srgbClr val="1A1A1A"/>
                          </a:solidFill>
                        </a:rPr>
                        <a:t>Oilfield Services</a:t>
                      </a:r>
                    </a:p>
                  </a:txBody>
                  <a:tcPr/>
                </a:tc>
                <a:tc>
                  <a:txBody>
                    <a:bodyPr/>
                    <a:lstStyle/>
                    <a:p>
                      <a:r>
                        <a:rPr sz="1100">
                          <a:solidFill>
                            <a:srgbClr val="1A1A1A"/>
                          </a:solidFill>
                        </a:rPr>
                        <a:t>53.4x</a:t>
                      </a:r>
                    </a:p>
                  </a:txBody>
                  <a:tcPr/>
                </a:tc>
                <a:tc>
                  <a:txBody>
                    <a:bodyPr/>
                    <a:lstStyle/>
                    <a:p>
                      <a:r>
                        <a:rPr sz="1100">
                          <a:solidFill>
                            <a:srgbClr val="1A1A1A"/>
                          </a:solidFill>
                        </a:rPr>
                        <a:t>9.2x</a:t>
                      </a:r>
                    </a:p>
                  </a:txBody>
                  <a:tcPr/>
                </a:tc>
                <a:tc>
                  <a:txBody>
                    <a:bodyPr/>
                    <a:lstStyle/>
                    <a:p/>
                  </a:txBody>
                  <a:tcPr/>
                </a:tc>
                <a:tc>
                  <a:txBody>
                    <a:bodyPr/>
                    <a:lstStyle/>
                    <a:p>
                      <a:r>
                        <a:rPr sz="1100">
                          <a:solidFill>
                            <a:srgbClr val="1A1A1A"/>
                          </a:solidFill>
                        </a:rPr>
                        <a:t>-2.4%</a:t>
                      </a:r>
                    </a:p>
                  </a:txBody>
                  <a:tcPr/>
                </a:tc>
                <a:tc>
                  <a:txBody>
                    <a:bodyPr/>
                    <a:lstStyle/>
                    <a:p>
                      <a:r>
                        <a:rPr sz="1100">
                          <a:solidFill>
                            <a:srgbClr val="1A1A1A"/>
                          </a:solidFill>
                        </a:rPr>
                        <a:t>1.0%</a:t>
                      </a:r>
                    </a:p>
                  </a:txBody>
                  <a:tcPr/>
                </a:tc>
              </a:tr>
            </a:tbl>
          </a:graphicData>
        </a:graphic>
      </p:graphicFrame>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Grid peers command premium multiples on earnings visibility; OFS trades at cyclical discount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Long Scenarios: Sieyuan Electric</a:t>
            </a:r>
          </a:p>
        </p:txBody>
      </p:sp>
      <p:graphicFrame>
        <p:nvGraphicFramePr>
          <p:cNvPr id="3" name="Table 2"/>
          <p:cNvGraphicFramePr>
            <a:graphicFrameLocks noGrp="1"/>
          </p:cNvGraphicFramePr>
          <p:nvPr/>
        </p:nvGraphicFramePr>
        <p:xfrm>
          <a:off x="640080" y="1188720"/>
          <a:ext cx="10972800" cy="1828800"/>
        </p:xfrm>
        <a:graphic>
          <a:graphicData uri="http://schemas.openxmlformats.org/drawingml/2006/table">
            <a:tbl>
              <a:tblPr firstRow="1" bandRow="1">
                <a:tableStyleId>{5C22544A-7EE6-4342-B048-85BDC9FD1C3A}</a:tableStyleId>
              </a:tblPr>
              <a:tblGrid>
                <a:gridCol w="1567542"/>
                <a:gridCol w="1567542"/>
                <a:gridCol w="1567542"/>
                <a:gridCol w="1567542"/>
                <a:gridCol w="1567542"/>
                <a:gridCol w="1567542"/>
                <a:gridCol w="1567548"/>
              </a:tblGrid>
              <a:tr h="457200">
                <a:tc>
                  <a:txBody>
                    <a:bodyPr/>
                    <a:lstStyle/>
                    <a:p>
                      <a:r>
                        <a:rPr sz="1200" b="1">
                          <a:solidFill>
                            <a:srgbClr val="FFFFFF"/>
                          </a:solidFill>
                        </a:rPr>
                        <a:t>Scenario</a:t>
                      </a:r>
                    </a:p>
                  </a:txBody>
                  <a:tcPr>
                    <a:solidFill>
                      <a:srgbClr val="002F5D"/>
                    </a:solidFill>
                  </a:tcPr>
                </a:tc>
                <a:tc>
                  <a:txBody>
                    <a:bodyPr/>
                    <a:lstStyle/>
                    <a:p>
                      <a:r>
                        <a:rPr sz="1200" b="1">
                          <a:solidFill>
                            <a:srgbClr val="FFFFFF"/>
                          </a:solidFill>
                        </a:rPr>
                        <a:t>Eps Growth</a:t>
                      </a:r>
                    </a:p>
                  </a:txBody>
                  <a:tcPr>
                    <a:solidFill>
                      <a:srgbClr val="002F5D"/>
                    </a:solidFill>
                  </a:tcPr>
                </a:tc>
                <a:tc>
                  <a:txBody>
                    <a:bodyPr/>
                    <a:lstStyle/>
                    <a:p>
                      <a:r>
                        <a:rPr sz="1200" b="1">
                          <a:solidFill>
                            <a:srgbClr val="FFFFFF"/>
                          </a:solidFill>
                        </a:rPr>
                        <a:t>Target Pe</a:t>
                      </a:r>
                    </a:p>
                  </a:txBody>
                  <a:tcPr>
                    <a:solidFill>
                      <a:srgbClr val="002F5D"/>
                    </a:solidFill>
                  </a:tcPr>
                </a:tc>
                <a:tc>
                  <a:txBody>
                    <a:bodyPr/>
                    <a:lstStyle/>
                    <a:p>
                      <a:r>
                        <a:rPr sz="1200" b="1">
                          <a:solidFill>
                            <a:srgbClr val="FFFFFF"/>
                          </a:solidFill>
                        </a:rPr>
                        <a:t>Target Eps</a:t>
                      </a:r>
                    </a:p>
                  </a:txBody>
                  <a:tcPr>
                    <a:solidFill>
                      <a:srgbClr val="002F5D"/>
                    </a:solidFill>
                  </a:tcPr>
                </a:tc>
                <a:tc>
                  <a:txBody>
                    <a:bodyPr/>
                    <a:lstStyle/>
                    <a:p>
                      <a:r>
                        <a:rPr sz="1200" b="1">
                          <a:solidFill>
                            <a:srgbClr val="FFFFFF"/>
                          </a:solidFill>
                        </a:rPr>
                        <a:t>Target Price</a:t>
                      </a:r>
                    </a:p>
                  </a:txBody>
                  <a:tcPr>
                    <a:solidFill>
                      <a:srgbClr val="002F5D"/>
                    </a:solidFill>
                  </a:tcPr>
                </a:tc>
                <a:tc>
                  <a:txBody>
                    <a:bodyPr/>
                    <a:lstStyle/>
                    <a:p>
                      <a:r>
                        <a:rPr sz="1200" b="1">
                          <a:solidFill>
                            <a:srgbClr val="FFFFFF"/>
                          </a:solidFill>
                        </a:rPr>
                        <a:t>Upside Pct</a:t>
                      </a:r>
                    </a:p>
                  </a:txBody>
                  <a:tcPr>
                    <a:solidFill>
                      <a:srgbClr val="002F5D"/>
                    </a:solidFill>
                  </a:tcPr>
                </a:tc>
                <a:tc>
                  <a:txBody>
                    <a:bodyPr/>
                    <a:lstStyle/>
                    <a:p>
                      <a:r>
                        <a:rPr sz="1200" b="1">
                          <a:solidFill>
                            <a:srgbClr val="FFFFFF"/>
                          </a:solidFill>
                        </a:rPr>
                        <a:t>Probability</a:t>
                      </a:r>
                    </a:p>
                  </a:txBody>
                  <a:tcPr>
                    <a:solidFill>
                      <a:srgbClr val="002F5D"/>
                    </a:solidFill>
                  </a:tcPr>
                </a:tc>
              </a:tr>
              <a:tr h="457200">
                <a:tc>
                  <a:txBody>
                    <a:bodyPr/>
                    <a:lstStyle/>
                    <a:p>
                      <a:r>
                        <a:rPr sz="1100">
                          <a:solidFill>
                            <a:srgbClr val="1A1A1A"/>
                          </a:solidFill>
                        </a:rPr>
                        <a:t>Bear</a:t>
                      </a:r>
                    </a:p>
                  </a:txBody>
                  <a:tcPr/>
                </a:tc>
                <a:tc>
                  <a:txBody>
                    <a:bodyPr/>
                    <a:lstStyle/>
                    <a:p>
                      <a:r>
                        <a:rPr sz="1100">
                          <a:solidFill>
                            <a:srgbClr val="1A1A1A"/>
                          </a:solidFill>
                        </a:rPr>
                        <a:t>+10%</a:t>
                      </a:r>
                    </a:p>
                  </a:txBody>
                  <a:tcPr/>
                </a:tc>
                <a:tc>
                  <a:txBody>
                    <a:bodyPr/>
                    <a:lstStyle/>
                    <a:p>
                      <a:r>
                        <a:rPr sz="1100">
                          <a:solidFill>
                            <a:srgbClr val="1A1A1A"/>
                          </a:solidFill>
                        </a:rPr>
                        <a:t>35.0x</a:t>
                      </a:r>
                    </a:p>
                  </a:txBody>
                  <a:tcPr/>
                </a:tc>
                <a:tc>
                  <a:txBody>
                    <a:bodyPr/>
                    <a:lstStyle/>
                    <a:p>
                      <a:r>
                        <a:rPr sz="1100">
                          <a:solidFill>
                            <a:srgbClr val="1A1A1A"/>
                          </a:solidFill>
                        </a:rPr>
                        <a:t>4.57</a:t>
                      </a:r>
                    </a:p>
                  </a:txBody>
                  <a:tcPr/>
                </a:tc>
                <a:tc>
                  <a:txBody>
                    <a:bodyPr/>
                    <a:lstStyle/>
                    <a:p>
                      <a:r>
                        <a:rPr sz="1100">
                          <a:solidFill>
                            <a:srgbClr val="1A1A1A"/>
                          </a:solidFill>
                        </a:rPr>
                        <a:t>159.78</a:t>
                      </a:r>
                    </a:p>
                  </a:txBody>
                  <a:tcPr/>
                </a:tc>
                <a:tc>
                  <a:txBody>
                    <a:bodyPr/>
                    <a:lstStyle/>
                    <a:p>
                      <a:r>
                        <a:rPr sz="1100">
                          <a:solidFill>
                            <a:srgbClr val="1A1A1A"/>
                          </a:solidFill>
                        </a:rPr>
                        <a:t>-18%</a:t>
                      </a:r>
                    </a:p>
                  </a:txBody>
                  <a:tcPr/>
                </a:tc>
                <a:tc>
                  <a:txBody>
                    <a:bodyPr/>
                    <a:lstStyle/>
                    <a:p>
                      <a:r>
                        <a:rPr sz="1100">
                          <a:solidFill>
                            <a:srgbClr val="1A1A1A"/>
                          </a:solidFill>
                        </a:rPr>
                        <a:t>20%</a:t>
                      </a:r>
                    </a:p>
                  </a:txBody>
                  <a:tcPr/>
                </a:tc>
              </a:tr>
              <a:tr h="457200">
                <a:tc>
                  <a:txBody>
                    <a:bodyPr/>
                    <a:lstStyle/>
                    <a:p>
                      <a:r>
                        <a:rPr sz="1100">
                          <a:solidFill>
                            <a:srgbClr val="1A1A1A"/>
                          </a:solidFill>
                        </a:rPr>
                        <a:t>Base</a:t>
                      </a:r>
                    </a:p>
                  </a:txBody>
                  <a:tcPr/>
                </a:tc>
                <a:tc>
                  <a:txBody>
                    <a:bodyPr/>
                    <a:lstStyle/>
                    <a:p>
                      <a:r>
                        <a:rPr sz="1100">
                          <a:solidFill>
                            <a:srgbClr val="1A1A1A"/>
                          </a:solidFill>
                        </a:rPr>
                        <a:t>+20%</a:t>
                      </a:r>
                    </a:p>
                  </a:txBody>
                  <a:tcPr/>
                </a:tc>
                <a:tc>
                  <a:txBody>
                    <a:bodyPr/>
                    <a:lstStyle/>
                    <a:p>
                      <a:r>
                        <a:rPr sz="1100">
                          <a:solidFill>
                            <a:srgbClr val="1A1A1A"/>
                          </a:solidFill>
                        </a:rPr>
                        <a:t>55.0x</a:t>
                      </a:r>
                    </a:p>
                  </a:txBody>
                  <a:tcPr/>
                </a:tc>
                <a:tc>
                  <a:txBody>
                    <a:bodyPr/>
                    <a:lstStyle/>
                    <a:p>
                      <a:r>
                        <a:rPr sz="1100">
                          <a:solidFill>
                            <a:srgbClr val="1A1A1A"/>
                          </a:solidFill>
                        </a:rPr>
                        <a:t>4.98</a:t>
                      </a:r>
                    </a:p>
                  </a:txBody>
                  <a:tcPr/>
                </a:tc>
                <a:tc>
                  <a:txBody>
                    <a:bodyPr/>
                    <a:lstStyle/>
                    <a:p>
                      <a:r>
                        <a:rPr sz="1100">
                          <a:solidFill>
                            <a:srgbClr val="1A1A1A"/>
                          </a:solidFill>
                        </a:rPr>
                        <a:t>273.9</a:t>
                      </a:r>
                    </a:p>
                  </a:txBody>
                  <a:tcPr/>
                </a:tc>
                <a:tc>
                  <a:txBody>
                    <a:bodyPr/>
                    <a:lstStyle/>
                    <a:p>
                      <a:r>
                        <a:rPr sz="1100">
                          <a:solidFill>
                            <a:srgbClr val="1A1A1A"/>
                          </a:solidFill>
                        </a:rPr>
                        <a:t>+40%</a:t>
                      </a:r>
                    </a:p>
                  </a:txBody>
                  <a:tcPr/>
                </a:tc>
                <a:tc>
                  <a:txBody>
                    <a:bodyPr/>
                    <a:lstStyle/>
                    <a:p>
                      <a:r>
                        <a:rPr sz="1100">
                          <a:solidFill>
                            <a:srgbClr val="1A1A1A"/>
                          </a:solidFill>
                        </a:rPr>
                        <a:t>55%</a:t>
                      </a:r>
                    </a:p>
                  </a:txBody>
                  <a:tcPr/>
                </a:tc>
              </a:tr>
              <a:tr h="457200">
                <a:tc>
                  <a:txBody>
                    <a:bodyPr/>
                    <a:lstStyle/>
                    <a:p>
                      <a:r>
                        <a:rPr sz="1100">
                          <a:solidFill>
                            <a:srgbClr val="1A1A1A"/>
                          </a:solidFill>
                        </a:rPr>
                        <a:t>Bull</a:t>
                      </a:r>
                    </a:p>
                  </a:txBody>
                  <a:tcPr/>
                </a:tc>
                <a:tc>
                  <a:txBody>
                    <a:bodyPr/>
                    <a:lstStyle/>
                    <a:p>
                      <a:r>
                        <a:rPr sz="1100">
                          <a:solidFill>
                            <a:srgbClr val="1A1A1A"/>
                          </a:solidFill>
                        </a:rPr>
                        <a:t>+35%</a:t>
                      </a:r>
                    </a:p>
                  </a:txBody>
                  <a:tcPr/>
                </a:tc>
                <a:tc>
                  <a:txBody>
                    <a:bodyPr/>
                    <a:lstStyle/>
                    <a:p>
                      <a:r>
                        <a:rPr sz="1100">
                          <a:solidFill>
                            <a:srgbClr val="1A1A1A"/>
                          </a:solidFill>
                        </a:rPr>
                        <a:t>65.0x</a:t>
                      </a:r>
                    </a:p>
                  </a:txBody>
                  <a:tcPr/>
                </a:tc>
                <a:tc>
                  <a:txBody>
                    <a:bodyPr/>
                    <a:lstStyle/>
                    <a:p>
                      <a:r>
                        <a:rPr sz="1100">
                          <a:solidFill>
                            <a:srgbClr val="1A1A1A"/>
                          </a:solidFill>
                        </a:rPr>
                        <a:t>5.6</a:t>
                      </a:r>
                    </a:p>
                  </a:txBody>
                  <a:tcPr/>
                </a:tc>
                <a:tc>
                  <a:txBody>
                    <a:bodyPr/>
                    <a:lstStyle/>
                    <a:p>
                      <a:r>
                        <a:rPr sz="1100">
                          <a:solidFill>
                            <a:srgbClr val="1A1A1A"/>
                          </a:solidFill>
                        </a:rPr>
                        <a:t>364.16</a:t>
                      </a:r>
                    </a:p>
                  </a:txBody>
                  <a:tcPr/>
                </a:tc>
                <a:tc>
                  <a:txBody>
                    <a:bodyPr/>
                    <a:lstStyle/>
                    <a:p>
                      <a:r>
                        <a:rPr sz="1100">
                          <a:solidFill>
                            <a:srgbClr val="1A1A1A"/>
                          </a:solidFill>
                        </a:rPr>
                        <a:t>+87%</a:t>
                      </a:r>
                    </a:p>
                  </a:txBody>
                  <a:tcPr/>
                </a:tc>
                <a:tc>
                  <a:txBody>
                    <a:bodyPr/>
                    <a:lstStyle/>
                    <a:p>
                      <a:r>
                        <a:rPr sz="1100">
                          <a:solidFill>
                            <a:srgbClr val="1A1A1A"/>
                          </a:solidFill>
                        </a:rPr>
                        <a:t>25%</a:t>
                      </a:r>
                    </a:p>
                  </a:txBody>
                  <a:tcPr/>
                </a:tc>
              </a:tr>
            </a:tbl>
          </a:graphicData>
        </a:graphic>
      </p:graphicFrame>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Probability-weighted upside driven by overseas revenue mix and grid re-rating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Short Scenarios: Halliburton</a:t>
            </a:r>
          </a:p>
        </p:txBody>
      </p:sp>
      <p:graphicFrame>
        <p:nvGraphicFramePr>
          <p:cNvPr id="3" name="Table 2"/>
          <p:cNvGraphicFramePr>
            <a:graphicFrameLocks noGrp="1"/>
          </p:cNvGraphicFramePr>
          <p:nvPr/>
        </p:nvGraphicFramePr>
        <p:xfrm>
          <a:off x="640080" y="1188720"/>
          <a:ext cx="10972800" cy="1828800"/>
        </p:xfrm>
        <a:graphic>
          <a:graphicData uri="http://schemas.openxmlformats.org/drawingml/2006/table">
            <a:tbl>
              <a:tblPr firstRow="1" bandRow="1">
                <a:tableStyleId>{5C22544A-7EE6-4342-B048-85BDC9FD1C3A}</a:tableStyleId>
              </a:tblPr>
              <a:tblGrid>
                <a:gridCol w="1567542"/>
                <a:gridCol w="1567542"/>
                <a:gridCol w="1567542"/>
                <a:gridCol w="1567542"/>
                <a:gridCol w="1567542"/>
                <a:gridCol w="1567542"/>
                <a:gridCol w="1567548"/>
              </a:tblGrid>
              <a:tr h="457200">
                <a:tc>
                  <a:txBody>
                    <a:bodyPr/>
                    <a:lstStyle/>
                    <a:p>
                      <a:r>
                        <a:rPr sz="1200" b="1">
                          <a:solidFill>
                            <a:srgbClr val="FFFFFF"/>
                          </a:solidFill>
                        </a:rPr>
                        <a:t>Scenario</a:t>
                      </a:r>
                    </a:p>
                  </a:txBody>
                  <a:tcPr>
                    <a:solidFill>
                      <a:srgbClr val="002F5D"/>
                    </a:solidFill>
                  </a:tcPr>
                </a:tc>
                <a:tc>
                  <a:txBody>
                    <a:bodyPr/>
                    <a:lstStyle/>
                    <a:p>
                      <a:r>
                        <a:rPr sz="1200" b="1">
                          <a:solidFill>
                            <a:srgbClr val="FFFFFF"/>
                          </a:solidFill>
                        </a:rPr>
                        <a:t>Eps Growth</a:t>
                      </a:r>
                    </a:p>
                  </a:txBody>
                  <a:tcPr>
                    <a:solidFill>
                      <a:srgbClr val="002F5D"/>
                    </a:solidFill>
                  </a:tcPr>
                </a:tc>
                <a:tc>
                  <a:txBody>
                    <a:bodyPr/>
                    <a:lstStyle/>
                    <a:p>
                      <a:r>
                        <a:rPr sz="1200" b="1">
                          <a:solidFill>
                            <a:srgbClr val="FFFFFF"/>
                          </a:solidFill>
                        </a:rPr>
                        <a:t>Target Pe</a:t>
                      </a:r>
                    </a:p>
                  </a:txBody>
                  <a:tcPr>
                    <a:solidFill>
                      <a:srgbClr val="002F5D"/>
                    </a:solidFill>
                  </a:tcPr>
                </a:tc>
                <a:tc>
                  <a:txBody>
                    <a:bodyPr/>
                    <a:lstStyle/>
                    <a:p>
                      <a:r>
                        <a:rPr sz="1200" b="1">
                          <a:solidFill>
                            <a:srgbClr val="FFFFFF"/>
                          </a:solidFill>
                        </a:rPr>
                        <a:t>Target Eps</a:t>
                      </a:r>
                    </a:p>
                  </a:txBody>
                  <a:tcPr>
                    <a:solidFill>
                      <a:srgbClr val="002F5D"/>
                    </a:solidFill>
                  </a:tcPr>
                </a:tc>
                <a:tc>
                  <a:txBody>
                    <a:bodyPr/>
                    <a:lstStyle/>
                    <a:p>
                      <a:r>
                        <a:rPr sz="1200" b="1">
                          <a:solidFill>
                            <a:srgbClr val="FFFFFF"/>
                          </a:solidFill>
                        </a:rPr>
                        <a:t>Target Price</a:t>
                      </a:r>
                    </a:p>
                  </a:txBody>
                  <a:tcPr>
                    <a:solidFill>
                      <a:srgbClr val="002F5D"/>
                    </a:solidFill>
                  </a:tcPr>
                </a:tc>
                <a:tc>
                  <a:txBody>
                    <a:bodyPr/>
                    <a:lstStyle/>
                    <a:p>
                      <a:r>
                        <a:rPr sz="1200" b="1">
                          <a:solidFill>
                            <a:srgbClr val="FFFFFF"/>
                          </a:solidFill>
                        </a:rPr>
                        <a:t>Upside Pct</a:t>
                      </a:r>
                    </a:p>
                  </a:txBody>
                  <a:tcPr>
                    <a:solidFill>
                      <a:srgbClr val="002F5D"/>
                    </a:solidFill>
                  </a:tcPr>
                </a:tc>
                <a:tc>
                  <a:txBody>
                    <a:bodyPr/>
                    <a:lstStyle/>
                    <a:p>
                      <a:r>
                        <a:rPr sz="1200" b="1">
                          <a:solidFill>
                            <a:srgbClr val="FFFFFF"/>
                          </a:solidFill>
                        </a:rPr>
                        <a:t>Probability</a:t>
                      </a:r>
                    </a:p>
                  </a:txBody>
                  <a:tcPr>
                    <a:solidFill>
                      <a:srgbClr val="002F5D"/>
                    </a:solidFill>
                  </a:tcPr>
                </a:tc>
              </a:tr>
              <a:tr h="457200">
                <a:tc>
                  <a:txBody>
                    <a:bodyPr/>
                    <a:lstStyle/>
                    <a:p>
                      <a:r>
                        <a:rPr sz="1100">
                          <a:solidFill>
                            <a:srgbClr val="1A1A1A"/>
                          </a:solidFill>
                        </a:rPr>
                        <a:t>Bear</a:t>
                      </a:r>
                    </a:p>
                  </a:txBody>
                  <a:tcPr/>
                </a:tc>
                <a:tc>
                  <a:txBody>
                    <a:bodyPr/>
                    <a:lstStyle/>
                    <a:p>
                      <a:r>
                        <a:rPr sz="1100">
                          <a:solidFill>
                            <a:srgbClr val="1A1A1A"/>
                          </a:solidFill>
                        </a:rPr>
                        <a:t>-20%</a:t>
                      </a:r>
                    </a:p>
                  </a:txBody>
                  <a:tcPr/>
                </a:tc>
                <a:tc>
                  <a:txBody>
                    <a:bodyPr/>
                    <a:lstStyle/>
                    <a:p>
                      <a:r>
                        <a:rPr sz="1100">
                          <a:solidFill>
                            <a:srgbClr val="1A1A1A"/>
                          </a:solidFill>
                        </a:rPr>
                        <a:t>12.0x</a:t>
                      </a:r>
                    </a:p>
                  </a:txBody>
                  <a:tcPr/>
                </a:tc>
                <a:tc>
                  <a:txBody>
                    <a:bodyPr/>
                    <a:lstStyle/>
                    <a:p>
                      <a:r>
                        <a:rPr sz="1100">
                          <a:solidFill>
                            <a:srgbClr val="1A1A1A"/>
                          </a:solidFill>
                        </a:rPr>
                        <a:t>1.45</a:t>
                      </a:r>
                    </a:p>
                  </a:txBody>
                  <a:tcPr/>
                </a:tc>
                <a:tc>
                  <a:txBody>
                    <a:bodyPr/>
                    <a:lstStyle/>
                    <a:p>
                      <a:r>
                        <a:rPr sz="1100">
                          <a:solidFill>
                            <a:srgbClr val="1A1A1A"/>
                          </a:solidFill>
                        </a:rPr>
                        <a:t>17.38</a:t>
                      </a:r>
                    </a:p>
                  </a:txBody>
                  <a:tcPr/>
                </a:tc>
                <a:tc>
                  <a:txBody>
                    <a:bodyPr/>
                    <a:lstStyle/>
                    <a:p>
                      <a:r>
                        <a:rPr sz="1100">
                          <a:solidFill>
                            <a:srgbClr val="1A1A1A"/>
                          </a:solidFill>
                        </a:rPr>
                        <a:t>-57%</a:t>
                      </a:r>
                    </a:p>
                  </a:txBody>
                  <a:tcPr/>
                </a:tc>
                <a:tc>
                  <a:txBody>
                    <a:bodyPr/>
                    <a:lstStyle/>
                    <a:p>
                      <a:r>
                        <a:rPr sz="1100">
                          <a:solidFill>
                            <a:srgbClr val="1A1A1A"/>
                          </a:solidFill>
                        </a:rPr>
                        <a:t>35%</a:t>
                      </a:r>
                    </a:p>
                  </a:txBody>
                  <a:tcPr/>
                </a:tc>
              </a:tr>
              <a:tr h="457200">
                <a:tc>
                  <a:txBody>
                    <a:bodyPr/>
                    <a:lstStyle/>
                    <a:p>
                      <a:r>
                        <a:rPr sz="1100">
                          <a:solidFill>
                            <a:srgbClr val="1A1A1A"/>
                          </a:solidFill>
                        </a:rPr>
                        <a:t>Base</a:t>
                      </a:r>
                    </a:p>
                  </a:txBody>
                  <a:tcPr/>
                </a:tc>
                <a:tc>
                  <a:txBody>
                    <a:bodyPr/>
                    <a:lstStyle/>
                    <a:p>
                      <a:r>
                        <a:rPr sz="1100">
                          <a:solidFill>
                            <a:srgbClr val="1A1A1A"/>
                          </a:solidFill>
                        </a:rPr>
                        <a:t>-8%</a:t>
                      </a:r>
                    </a:p>
                  </a:txBody>
                  <a:tcPr/>
                </a:tc>
                <a:tc>
                  <a:txBody>
                    <a:bodyPr/>
                    <a:lstStyle/>
                    <a:p>
                      <a:r>
                        <a:rPr sz="1100">
                          <a:solidFill>
                            <a:srgbClr val="1A1A1A"/>
                          </a:solidFill>
                        </a:rPr>
                        <a:t>18.0x</a:t>
                      </a:r>
                    </a:p>
                  </a:txBody>
                  <a:tcPr/>
                </a:tc>
                <a:tc>
                  <a:txBody>
                    <a:bodyPr/>
                    <a:lstStyle/>
                    <a:p>
                      <a:r>
                        <a:rPr sz="1100">
                          <a:solidFill>
                            <a:srgbClr val="1A1A1A"/>
                          </a:solidFill>
                        </a:rPr>
                        <a:t>1.67</a:t>
                      </a:r>
                    </a:p>
                  </a:txBody>
                  <a:tcPr/>
                </a:tc>
                <a:tc>
                  <a:txBody>
                    <a:bodyPr/>
                    <a:lstStyle/>
                    <a:p>
                      <a:r>
                        <a:rPr sz="1100">
                          <a:solidFill>
                            <a:srgbClr val="1A1A1A"/>
                          </a:solidFill>
                        </a:rPr>
                        <a:t>29.97</a:t>
                      </a:r>
                    </a:p>
                  </a:txBody>
                  <a:tcPr/>
                </a:tc>
                <a:tc>
                  <a:txBody>
                    <a:bodyPr/>
                    <a:lstStyle/>
                    <a:p>
                      <a:r>
                        <a:rPr sz="1100">
                          <a:solidFill>
                            <a:srgbClr val="1A1A1A"/>
                          </a:solidFill>
                        </a:rPr>
                        <a:t>-25%</a:t>
                      </a:r>
                    </a:p>
                  </a:txBody>
                  <a:tcPr/>
                </a:tc>
                <a:tc>
                  <a:txBody>
                    <a:bodyPr/>
                    <a:lstStyle/>
                    <a:p>
                      <a:r>
                        <a:rPr sz="1100">
                          <a:solidFill>
                            <a:srgbClr val="1A1A1A"/>
                          </a:solidFill>
                        </a:rPr>
                        <a:t>45%</a:t>
                      </a:r>
                    </a:p>
                  </a:txBody>
                  <a:tcPr/>
                </a:tc>
              </a:tr>
              <a:tr h="457200">
                <a:tc>
                  <a:txBody>
                    <a:bodyPr/>
                    <a:lstStyle/>
                    <a:p>
                      <a:r>
                        <a:rPr sz="1100">
                          <a:solidFill>
                            <a:srgbClr val="1A1A1A"/>
                          </a:solidFill>
                        </a:rPr>
                        <a:t>Bull</a:t>
                      </a:r>
                    </a:p>
                  </a:txBody>
                  <a:tcPr/>
                </a:tc>
                <a:tc>
                  <a:txBody>
                    <a:bodyPr/>
                    <a:lstStyle/>
                    <a:p>
                      <a:r>
                        <a:rPr sz="1100">
                          <a:solidFill>
                            <a:srgbClr val="1A1A1A"/>
                          </a:solidFill>
                        </a:rPr>
                        <a:t>+10%</a:t>
                      </a:r>
                    </a:p>
                  </a:txBody>
                  <a:tcPr/>
                </a:tc>
                <a:tc>
                  <a:txBody>
                    <a:bodyPr/>
                    <a:lstStyle/>
                    <a:p>
                      <a:r>
                        <a:rPr sz="1100">
                          <a:solidFill>
                            <a:srgbClr val="1A1A1A"/>
                          </a:solidFill>
                        </a:rPr>
                        <a:t>22.0x</a:t>
                      </a:r>
                    </a:p>
                  </a:txBody>
                  <a:tcPr/>
                </a:tc>
                <a:tc>
                  <a:txBody>
                    <a:bodyPr/>
                    <a:lstStyle/>
                    <a:p>
                      <a:r>
                        <a:rPr sz="1100">
                          <a:solidFill>
                            <a:srgbClr val="1A1A1A"/>
                          </a:solidFill>
                        </a:rPr>
                        <a:t>1.99</a:t>
                      </a:r>
                    </a:p>
                  </a:txBody>
                  <a:tcPr/>
                </a:tc>
                <a:tc>
                  <a:txBody>
                    <a:bodyPr/>
                    <a:lstStyle/>
                    <a:p>
                      <a:r>
                        <a:rPr sz="1100">
                          <a:solidFill>
                            <a:srgbClr val="1A1A1A"/>
                          </a:solidFill>
                        </a:rPr>
                        <a:t>43.8</a:t>
                      </a:r>
                    </a:p>
                  </a:txBody>
                  <a:tcPr/>
                </a:tc>
                <a:tc>
                  <a:txBody>
                    <a:bodyPr/>
                    <a:lstStyle/>
                    <a:p>
                      <a:r>
                        <a:rPr sz="1100">
                          <a:solidFill>
                            <a:srgbClr val="1A1A1A"/>
                          </a:solidFill>
                        </a:rPr>
                        <a:t>+9%</a:t>
                      </a:r>
                    </a:p>
                  </a:txBody>
                  <a:tcPr/>
                </a:tc>
                <a:tc>
                  <a:txBody>
                    <a:bodyPr/>
                    <a:lstStyle/>
                    <a:p>
                      <a:r>
                        <a:rPr sz="1100">
                          <a:solidFill>
                            <a:srgbClr val="1A1A1A"/>
                          </a:solidFill>
                        </a:rPr>
                        <a:t>20%</a:t>
                      </a:r>
                    </a:p>
                  </a:txBody>
                  <a:tcPr/>
                </a:tc>
              </a:tr>
            </a:tbl>
          </a:graphicData>
        </a:graphic>
      </p:graphicFrame>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Probability-weighted downside driven by margin compression and cyclical de-rate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EPS Sensitivity: What Drives Sieyuan Valuation?</a:t>
            </a:r>
          </a:p>
        </p:txBody>
      </p:sp>
      <p:pic>
        <p:nvPicPr>
          <p:cNvPr id="3" name="Picture 2" descr="sensitivity_tornado.png"/>
          <p:cNvPicPr>
            <a:picLocks noChangeAspect="1"/>
          </p:cNvPicPr>
          <p:nvPr/>
        </p:nvPicPr>
        <p:blipFill>
          <a:blip r:embed="rId2"/>
          <a:stretch>
            <a:fillRect/>
          </a:stretch>
        </p:blipFill>
        <p:spPr>
          <a:xfrm>
            <a:off x="1371600" y="1188720"/>
            <a:ext cx="9144000" cy="5029200"/>
          </a:xfrm>
          <a:prstGeom prst="rect">
            <a:avLst/>
          </a:prstGeom>
        </p:spPr>
      </p:pic>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Base case EPS ¥1.33. Gross margin is the key driver (±63%). Overseas mix + FX are secondary.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Catalysts Over Next 6-12 Months</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LONG CATALYSTS (Sieyuan):</a:t>
            </a:r>
          </a:p>
          <a:p>
            <a:pPr>
              <a:spcAft>
                <a:spcPts val="800"/>
              </a:spcAft>
              <a:defRPr sz="1800">
                <a:solidFill>
                  <a:srgbClr val="1A1A1A"/>
                </a:solidFill>
              </a:defRPr>
            </a:pPr>
            <a:r>
              <a:t>•   • Quarterly overseas order wins (Middle East, SE Asia)</a:t>
            </a:r>
          </a:p>
          <a:p>
            <a:pPr>
              <a:spcAft>
                <a:spcPts val="800"/>
              </a:spcAft>
              <a:defRPr sz="1800">
                <a:solidFill>
                  <a:srgbClr val="1A1A1A"/>
                </a:solidFill>
              </a:defRPr>
            </a:pPr>
            <a:r>
              <a:t>•   • China State Grid capex announcements</a:t>
            </a:r>
          </a:p>
          <a:p>
            <a:pPr>
              <a:spcAft>
                <a:spcPts val="800"/>
              </a:spcAft>
              <a:defRPr sz="1800">
                <a:solidFill>
                  <a:srgbClr val="1A1A1A"/>
                </a:solidFill>
              </a:defRPr>
            </a:pPr>
            <a:r>
              <a:t>•   • Gross margin expansion on overseas mix shift</a:t>
            </a:r>
          </a:p>
          <a:p>
            <a:pPr>
              <a:spcAft>
                <a:spcPts val="800"/>
              </a:spcAft>
              <a:defRPr sz="1800">
                <a:solidFill>
                  <a:srgbClr val="1A1A1A"/>
                </a:solidFill>
              </a:defRPr>
            </a:pPr>
            <a:r>
              <a:t>• SHORT CATALYSTS (Halliburton):</a:t>
            </a:r>
          </a:p>
          <a:p>
            <a:pPr>
              <a:spcAft>
                <a:spcPts val="800"/>
              </a:spcAft>
              <a:defRPr sz="1800">
                <a:solidFill>
                  <a:srgbClr val="1A1A1A"/>
                </a:solidFill>
              </a:defRPr>
            </a:pPr>
            <a:r>
              <a:t>•   • Q2 earnings miss on logistics cost</a:t>
            </a:r>
          </a:p>
          <a:p>
            <a:pPr>
              <a:spcAft>
                <a:spcPts val="800"/>
              </a:spcAft>
              <a:defRPr sz="1800">
                <a:solidFill>
                  <a:srgbClr val="1A1A1A"/>
                </a:solidFill>
              </a:defRPr>
            </a:pPr>
            <a:r>
              <a:t>•   • Guidance cut on North American rig count</a:t>
            </a:r>
          </a:p>
          <a:p>
            <a:pPr>
              <a:spcAft>
                <a:spcPts val="800"/>
              </a:spcAft>
              <a:defRPr sz="1800">
                <a:solidFill>
                  <a:srgbClr val="1A1A1A"/>
                </a:solidFill>
              </a:defRPr>
            </a:pPr>
            <a:r>
              <a:t>•   • Project deferral announcements from majors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Risks and Mitigants</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Oil price spike lifts HAL even if fundamentals weak → pair trade cushions absolute exposure</a:t>
            </a:r>
          </a:p>
          <a:p>
            <a:pPr>
              <a:spcAft>
                <a:spcPts val="800"/>
              </a:spcAft>
              <a:defRPr sz="1800">
                <a:solidFill>
                  <a:srgbClr val="1A1A1A"/>
                </a:solidFill>
              </a:defRPr>
            </a:pPr>
            <a:r>
              <a:t>• Sieyuan China beta/multiple compression → offset by overseas revenue visibility</a:t>
            </a:r>
          </a:p>
          <a:p>
            <a:pPr>
              <a:spcAft>
                <a:spcPts val="800"/>
              </a:spcAft>
              <a:defRPr sz="1800">
                <a:solidFill>
                  <a:srgbClr val="1A1A1A"/>
                </a:solidFill>
              </a:defRPr>
            </a:pPr>
            <a:r>
              <a:t>• Grid capex delays → multi-year policy demand reduces single-year risk</a:t>
            </a:r>
          </a:p>
          <a:p>
            <a:pPr>
              <a:spcAft>
                <a:spcPts val="800"/>
              </a:spcAft>
              <a:defRPr sz="1800">
                <a:solidFill>
                  <a:srgbClr val="1A1A1A"/>
                </a:solidFill>
              </a:defRPr>
            </a:pPr>
            <a:r>
              <a:t>• FX risk on RMB → monitored; sensitivity table in appendix</a:t>
            </a:r>
          </a:p>
          <a:p>
            <a:pPr>
              <a:spcAft>
                <a:spcPts val="800"/>
              </a:spcAft>
              <a:defRPr sz="1800">
                <a:solidFill>
                  <a:srgbClr val="1A1A1A"/>
                </a:solidFill>
              </a:defRPr>
            </a:pPr>
            <a:r>
              <a:t>• SHORT SQUEEZE / BORROW COST: HAL borrow cost ~2-5% annually; oil-spike short squeeze possible → position size limits risk</a:t>
            </a:r>
          </a:p>
          <a:p>
            <a:pPr>
              <a:spcAft>
                <a:spcPts val="800"/>
              </a:spcAft>
              <a:defRPr sz="1800">
                <a:solidFill>
                  <a:srgbClr val="1A1A1A"/>
                </a:solidFill>
              </a:defRPr>
            </a:pPr>
            <a:r>
              <a:t>• Thesis kill switch: HAL margin expansion + Sieyuan backlog decline → exit pair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Execution: Position Sizing, Carry &amp; Liquidity</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POSITION SIZING (Risk-Based):</a:t>
            </a:r>
          </a:p>
          <a:p>
            <a:pPr>
              <a:spcAft>
                <a:spcPts val="800"/>
              </a:spcAft>
              <a:defRPr sz="1800">
                <a:solidFill>
                  <a:srgbClr val="1A1A1A"/>
                </a:solidFill>
              </a:defRPr>
            </a:pPr>
            <a:r>
              <a:t>•   • Portfolio: $100M example | Max risk per trade: 2% ($2M)</a:t>
            </a:r>
          </a:p>
          <a:p>
            <a:pPr>
              <a:spcAft>
                <a:spcPts val="800"/>
              </a:spcAft>
              <a:defRPr sz="1800">
                <a:solidFill>
                  <a:srgbClr val="1A1A1A"/>
                </a:solidFill>
              </a:defRPr>
            </a:pPr>
            <a:r>
              <a:t>•   • Pair volatility: 42% annual | Position size: 2.4% of portfolio ($2.4M notional)</a:t>
            </a:r>
          </a:p>
          <a:p>
            <a:pPr>
              <a:spcAft>
                <a:spcPts val="800"/>
              </a:spcAft>
              <a:defRPr sz="1800">
                <a:solidFill>
                  <a:srgbClr val="1A1A1A"/>
                </a:solidFill>
              </a:defRPr>
            </a:pPr>
            <a:r>
              <a:t>•   • Allocation: $1.2M long Sieyuan / $1.2M short HAL (dollar-neutral)</a:t>
            </a:r>
          </a:p>
          <a:p>
            <a:pPr>
              <a:spcAft>
                <a:spcPts val="800"/>
              </a:spcAft>
              <a:defRPr sz="1800">
                <a:solidFill>
                  <a:srgbClr val="1A1A1A"/>
                </a:solidFill>
              </a:defRPr>
            </a:pPr>
            <a:r>
              <a:t>• </a:t>
            </a:r>
          </a:p>
          <a:p>
            <a:pPr>
              <a:spcAft>
                <a:spcPts val="800"/>
              </a:spcAft>
              <a:defRPr sz="1800">
                <a:solidFill>
                  <a:srgbClr val="1A1A1A"/>
                </a:solidFill>
              </a:defRPr>
            </a:pPr>
            <a:r>
              <a:t>• CARRY COST (6-month hold):</a:t>
            </a:r>
          </a:p>
          <a:p>
            <a:pPr>
              <a:spcAft>
                <a:spcPts val="800"/>
              </a:spcAft>
              <a:defRPr sz="1800">
                <a:solidFill>
                  <a:srgbClr val="1A1A1A"/>
                </a:solidFill>
              </a:defRPr>
            </a:pPr>
            <a:r>
              <a:t>•   • HAL borrow cost: 2-5% annually → $15K-33K cost</a:t>
            </a:r>
          </a:p>
          <a:p>
            <a:pPr>
              <a:spcAft>
                <a:spcPts val="800"/>
              </a:spcAft>
              <a:defRPr sz="1800">
                <a:solidFill>
                  <a:srgbClr val="1A1A1A"/>
                </a:solidFill>
              </a:defRPr>
            </a:pPr>
            <a:r>
              <a:t>•   • HAL dividend (short pays): 1.5% → ~$9K cost</a:t>
            </a:r>
          </a:p>
          <a:p>
            <a:pPr>
              <a:spcAft>
                <a:spcPts val="800"/>
              </a:spcAft>
              <a:defRPr sz="1800">
                <a:solidFill>
                  <a:srgbClr val="1A1A1A"/>
                </a:solidFill>
              </a:defRPr>
            </a:pPr>
            <a:r>
              <a:t>•   • Sieyuan dividend (long receives): 1% → ~$6K income</a:t>
            </a:r>
          </a:p>
          <a:p>
            <a:pPr>
              <a:spcAft>
                <a:spcPts val="800"/>
              </a:spcAft>
              <a:defRPr sz="1800">
                <a:solidFill>
                  <a:srgbClr val="1A1A1A"/>
                </a:solidFill>
              </a:defRPr>
            </a:pPr>
            <a:r>
              <a:t>•   • Net carry: ~$18K-36K (1.5-3% of expected spread return)</a:t>
            </a:r>
          </a:p>
          <a:p>
            <a:pPr>
              <a:spcAft>
                <a:spcPts val="800"/>
              </a:spcAft>
              <a:defRPr sz="1800">
                <a:solidFill>
                  <a:srgbClr val="1A1A1A"/>
                </a:solidFill>
              </a:defRPr>
            </a:pPr>
            <a:r>
              <a:t>• </a:t>
            </a:r>
          </a:p>
          <a:p>
            <a:pPr>
              <a:spcAft>
                <a:spcPts val="800"/>
              </a:spcAft>
              <a:defRPr sz="1800">
                <a:solidFill>
                  <a:srgbClr val="1A1A1A"/>
                </a:solidFill>
              </a:defRPr>
            </a:pPr>
            <a:r>
              <a:t>• LIQUIDITY &amp; EXECUTION:</a:t>
            </a:r>
          </a:p>
          <a:p>
            <a:pPr>
              <a:spcAft>
                <a:spcPts val="800"/>
              </a:spcAft>
              <a:defRPr sz="1800">
                <a:solidFill>
                  <a:srgbClr val="1A1A1A"/>
                </a:solidFill>
              </a:defRPr>
            </a:pPr>
            <a:r>
              <a:t>•   • Sieyuan: $787M daily volume | Execute in &lt;1 day | Sufficient for sizing</a:t>
            </a:r>
          </a:p>
          <a:p>
            <a:pPr>
              <a:spcAft>
                <a:spcPts val="800"/>
              </a:spcAft>
              <a:defRPr sz="1800">
                <a:solidFill>
                  <a:srgbClr val="1A1A1A"/>
                </a:solidFill>
              </a:defRPr>
            </a:pPr>
            <a:r>
              <a:t>•   • HAL: $332M daily volume | Execute in &lt;1 day | Excellent liquidity</a:t>
            </a:r>
          </a:p>
          <a:p>
            <a:pPr>
              <a:spcAft>
                <a:spcPts val="800"/>
              </a:spcAft>
              <a:defRPr sz="1800">
                <a:solidFill>
                  <a:srgbClr val="1A1A1A"/>
                </a:solidFill>
              </a:defRPr>
            </a:pPr>
            <a:r>
              <a:t>•   • Stock Connect required for Sieyuan A-shares (or H-share proxy: CRRC)</a:t>
            </a:r>
          </a:p>
          <a:p>
            <a:pPr>
              <a:spcAft>
                <a:spcPts val="800"/>
              </a:spcAft>
              <a:defRPr sz="1800">
                <a:solidFill>
                  <a:srgbClr val="1A1A1A"/>
                </a:solidFill>
              </a:defRPr>
            </a:pPr>
            <a:r>
              <a:t>• </a:t>
            </a:r>
          </a:p>
          <a:p>
            <a:pPr>
              <a:spcAft>
                <a:spcPts val="800"/>
              </a:spcAft>
              <a:defRPr sz="1800">
                <a:solidFill>
                  <a:srgbClr val="1A1A1A"/>
                </a:solidFill>
              </a:defRPr>
            </a:pPr>
            <a:r>
              <a:t>• TECHNICAL TIMING:</a:t>
            </a:r>
          </a:p>
          <a:p>
            <a:pPr>
              <a:spcAft>
                <a:spcPts val="800"/>
              </a:spcAft>
              <a:defRPr sz="1800">
                <a:solidFill>
                  <a:srgbClr val="1A1A1A"/>
                </a:solidFill>
              </a:defRPr>
            </a:pPr>
            <a:r>
              <a:t>•   • HAL: 99.3% of 52-week high, RSI 57.6 → Prime short entry at resistance</a:t>
            </a:r>
          </a:p>
          <a:p>
            <a:pPr>
              <a:spcAft>
                <a:spcPts val="800"/>
              </a:spcAft>
              <a:defRPr sz="1800">
                <a:solidFill>
                  <a:srgbClr val="1A1A1A"/>
                </a:solidFill>
              </a:defRPr>
            </a:pPr>
            <a:r>
              <a:t>•   • Sieyuan: 86.4% of 52-week high, RSI 46.7 → Pulled back, reasonable entry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Text Analysis: Scope and Limitations</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WHAT THIS MODULE DOES:</a:t>
            </a:r>
          </a:p>
          <a:p>
            <a:pPr>
              <a:spcAft>
                <a:spcPts val="800"/>
              </a:spcAft>
              <a:defRPr sz="1800">
                <a:solidFill>
                  <a:srgbClr val="1A1A1A"/>
                </a:solidFill>
              </a:defRPr>
            </a:pPr>
            <a:r>
              <a:t>•   • Compiles text evidence from 55 documents into structured categories</a:t>
            </a:r>
          </a:p>
          <a:p>
            <a:pPr>
              <a:spcAft>
                <a:spcPts val="800"/>
              </a:spcAft>
              <a:defRPr sz="1800">
                <a:solidFill>
                  <a:srgbClr val="1A1A1A"/>
                </a:solidFill>
              </a:defRPr>
            </a:pPr>
            <a:r>
              <a:t>•   • Surfaces specific quotes and management language for manual review</a:t>
            </a:r>
          </a:p>
          <a:p>
            <a:pPr>
              <a:spcAft>
                <a:spcPts val="800"/>
              </a:spcAft>
              <a:defRPr sz="1800">
                <a:solidFill>
                  <a:srgbClr val="1A1A1A"/>
                </a:solidFill>
              </a:defRPr>
            </a:pPr>
            <a:r>
              <a:t>•   • Provides repeatable framework for future thematic research</a:t>
            </a:r>
          </a:p>
          <a:p>
            <a:pPr>
              <a:spcAft>
                <a:spcPts val="800"/>
              </a:spcAft>
              <a:defRPr sz="1800">
                <a:solidFill>
                  <a:srgbClr val="1A1A1A"/>
                </a:solidFill>
              </a:defRPr>
            </a:pPr>
            <a:r>
              <a:t>• HONEST LIMITATIONS:</a:t>
            </a:r>
          </a:p>
          <a:p>
            <a:pPr>
              <a:spcAft>
                <a:spcPts val="800"/>
              </a:spcAft>
              <a:defRPr sz="1800">
                <a:solidFill>
                  <a:srgbClr val="1A1A1A"/>
                </a:solidFill>
              </a:defRPr>
            </a:pPr>
            <a:r>
              <a:t>•   • Descriptive, not predictive — signals do NOT forecast returns (see validation)</a:t>
            </a:r>
          </a:p>
          <a:p>
            <a:pPr>
              <a:spcAft>
                <a:spcPts val="800"/>
              </a:spcAft>
              <a:defRPr sz="1800">
                <a:solidFill>
                  <a:srgbClr val="1A1A1A"/>
                </a:solidFill>
              </a:defRPr>
            </a:pPr>
            <a:r>
              <a:t>•   • 330 paragraphs = small sample; limited statistical power</a:t>
            </a:r>
          </a:p>
          <a:p>
            <a:pPr>
              <a:spcAft>
                <a:spcPts val="800"/>
              </a:spcAft>
              <a:defRPr sz="1800">
                <a:solidFill>
                  <a:srgbClr val="1A1A1A"/>
                </a:solidFill>
              </a:defRPr>
            </a:pPr>
            <a:r>
              <a:t>•   • Classification relies on keyword patterns, not deep semantic understanding</a:t>
            </a:r>
          </a:p>
          <a:p>
            <a:pPr>
              <a:spcAft>
                <a:spcPts val="800"/>
              </a:spcAft>
              <a:defRPr sz="1800">
                <a:solidFill>
                  <a:srgbClr val="1A1A1A"/>
                </a:solidFill>
              </a:defRPr>
            </a:pPr>
            <a:r>
              <a:t>•   • Source bias: RSS feeds overweight news vs. operational 8-K filings</a:t>
            </a:r>
          </a:p>
          <a:p>
            <a:pPr>
              <a:spcAft>
                <a:spcPts val="800"/>
              </a:spcAft>
              <a:defRPr sz="1800">
                <a:solidFill>
                  <a:srgbClr val="1A1A1A"/>
                </a:solidFill>
              </a:defRPr>
            </a:pPr>
            <a:r>
              <a:t>•   • Every output requires human verification before investment decisions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square">
            <a:spAutoFit/>
          </a:bodyPr>
          <a:lstStyle/>
          <a:p>
            <a:pPr>
              <a:defRPr sz="2800" b="1">
                <a:solidFill>
                  <a:srgbClr val="002F5D"/>
                </a:solidFill>
              </a:defRPr>
            </a:pPr>
            <a:r>
              <a:t>The Trade: Thesis + Proof + Spread + Catalysts</a:t>
            </a:r>
          </a:p>
        </p:txBody>
      </p:sp>
      <p:sp>
        <p:nvSpPr>
          <p:cNvPr id="3" name="TextBox 2"/>
          <p:cNvSpPr txBox="1"/>
          <p:nvPr/>
        </p:nvSpPr>
        <p:spPr>
          <a:xfrm>
            <a:off x="640080" y="1188720"/>
            <a:ext cx="10972800" cy="5029200"/>
          </a:xfrm>
          <a:prstGeom prst="rect">
            <a:avLst/>
          </a:prstGeom>
          <a:noFill/>
        </p:spPr>
        <p:txBody>
          <a:bodyPr wrap="square">
            <a:spAutoFit/>
          </a:bodyPr>
          <a:lstStyle/>
          <a:p>
            <a:pPr>
              <a:spcAft>
                <a:spcPts val="800"/>
              </a:spcAft>
              <a:defRPr sz="1800">
                <a:solidFill>
                  <a:srgbClr val="1A1A1A"/>
                </a:solidFill>
              </a:defRPr>
            </a:pPr>
            <a:r>
              <a:t>• THESIS: Energy insecurity is shifting from barrels to electrons</a:t>
            </a:r>
          </a:p>
          <a:p>
            <a:pPr>
              <a:spcAft>
                <a:spcPts val="800"/>
              </a:spcAft>
              <a:defRPr sz="1800">
                <a:solidFill>
                  <a:srgbClr val="1A1A1A"/>
                </a:solidFill>
              </a:defRPr>
            </a:pPr>
            <a:r>
              <a:t>•   • Grid equipment = multi-year capex visibility (policy + demand)</a:t>
            </a:r>
          </a:p>
          <a:p>
            <a:pPr>
              <a:spcAft>
                <a:spcPts val="800"/>
              </a:spcAft>
              <a:defRPr sz="1800">
                <a:solidFill>
                  <a:srgbClr val="1A1A1A"/>
                </a:solidFill>
              </a:defRPr>
            </a:pPr>
            <a:r>
              <a:t>•   • Oilfield services = margin compression + cyclical risk (even if oil rises)</a:t>
            </a:r>
          </a:p>
          <a:p>
            <a:pPr>
              <a:spcAft>
                <a:spcPts val="800"/>
              </a:spcAft>
              <a:defRPr sz="1800">
                <a:solidFill>
                  <a:srgbClr val="1A1A1A"/>
                </a:solidFill>
              </a:defRPr>
            </a:pPr>
            <a:r>
              <a:t>• </a:t>
            </a:r>
          </a:p>
          <a:p>
            <a:pPr>
              <a:spcAft>
                <a:spcPts val="800"/>
              </a:spcAft>
              <a:defRPr sz="1800">
                <a:solidFill>
                  <a:srgbClr val="1A1A1A"/>
                </a:solidFill>
              </a:defRPr>
            </a:pPr>
            <a:r>
              <a:t>• HISTORICAL PROOF (2Y backtest):</a:t>
            </a:r>
          </a:p>
          <a:p>
            <a:pPr>
              <a:spcAft>
                <a:spcPts val="800"/>
              </a:spcAft>
              <a:defRPr sz="1800">
                <a:solidFill>
                  <a:srgbClr val="1A1A1A"/>
                </a:solidFill>
              </a:defRPr>
            </a:pPr>
            <a:r>
              <a:t>•   • Sieyuan +227% vs Oil +17% vs HAL +9%</a:t>
            </a:r>
          </a:p>
          <a:p>
            <a:pPr>
              <a:spcAft>
                <a:spcPts val="800"/>
              </a:spcAft>
              <a:defRPr sz="1800">
                <a:solidFill>
                  <a:srgbClr val="1A1A1A"/>
                </a:solidFill>
              </a:defRPr>
            </a:pPr>
            <a:r>
              <a:t>•   • Pair trade spread: long Sieyuan / short HAL generated +109% P&amp;L</a:t>
            </a:r>
          </a:p>
          <a:p>
            <a:pPr>
              <a:spcAft>
                <a:spcPts val="800"/>
              </a:spcAft>
              <a:defRPr sz="1800">
                <a:solidFill>
                  <a:srgbClr val="1A1A1A"/>
                </a:solidFill>
              </a:defRPr>
            </a:pPr>
            <a:r>
              <a:t>•   • Oil-HAL correlation 0.66 — moderate, and driven by margin, not price</a:t>
            </a:r>
          </a:p>
          <a:p>
            <a:pPr>
              <a:spcAft>
                <a:spcPts val="800"/>
              </a:spcAft>
              <a:defRPr sz="1800">
                <a:solidFill>
                  <a:srgbClr val="1A1A1A"/>
                </a:solidFill>
              </a:defRPr>
            </a:pPr>
            <a:r>
              <a:t>• </a:t>
            </a:r>
          </a:p>
          <a:p>
            <a:pPr>
              <a:spcAft>
                <a:spcPts val="800"/>
              </a:spcAft>
              <a:defRPr sz="1800">
                <a:solidFill>
                  <a:srgbClr val="1A1A1A"/>
                </a:solidFill>
              </a:defRPr>
            </a:pPr>
            <a:r>
              <a:t>• FORWARD EXPECTED RETURN:</a:t>
            </a:r>
          </a:p>
          <a:p>
            <a:pPr>
              <a:spcAft>
                <a:spcPts val="800"/>
              </a:spcAft>
              <a:defRPr sz="1800">
                <a:solidFill>
                  <a:srgbClr val="1A1A1A"/>
                </a:solidFill>
              </a:defRPr>
            </a:pPr>
            <a:r>
              <a:t>•   • Long Sieyuan: +40% (prob-weighted)</a:t>
            </a:r>
          </a:p>
          <a:p>
            <a:pPr>
              <a:spcAft>
                <a:spcPts val="800"/>
              </a:spcAft>
              <a:defRPr sz="1800">
                <a:solidFill>
                  <a:srgbClr val="1A1A1A"/>
                </a:solidFill>
              </a:defRPr>
            </a:pPr>
            <a:r>
              <a:t>•   • Short HAL: -29% (prob-weighted)</a:t>
            </a:r>
          </a:p>
          <a:p>
            <a:pPr>
              <a:spcAft>
                <a:spcPts val="800"/>
              </a:spcAft>
              <a:defRPr sz="1800">
                <a:solidFill>
                  <a:srgbClr val="1A1A1A"/>
                </a:solidFill>
              </a:defRPr>
            </a:pPr>
            <a:r>
              <a:t>•   • Pair spread: +70%</a:t>
            </a:r>
          </a:p>
          <a:p>
            <a:pPr>
              <a:spcAft>
                <a:spcPts val="800"/>
              </a:spcAft>
              <a:defRPr sz="1800">
                <a:solidFill>
                  <a:srgbClr val="1A1A1A"/>
                </a:solidFill>
              </a:defRPr>
            </a:pPr>
            <a:r>
              <a:t>• </a:t>
            </a:r>
          </a:p>
          <a:p>
            <a:pPr>
              <a:spcAft>
                <a:spcPts val="800"/>
              </a:spcAft>
              <a:defRPr sz="1800">
                <a:solidFill>
                  <a:srgbClr val="1A1A1A"/>
                </a:solidFill>
              </a:defRPr>
            </a:pPr>
            <a:r>
              <a:t>• CATALYST TIMELINE:</a:t>
            </a:r>
          </a:p>
          <a:p>
            <a:pPr>
              <a:spcAft>
                <a:spcPts val="800"/>
              </a:spcAft>
              <a:defRPr sz="1800">
                <a:solidFill>
                  <a:srgbClr val="1A1A1A"/>
                </a:solidFill>
              </a:defRPr>
            </a:pPr>
            <a:r>
              <a:t>•   • Q2: Sieyuan overseas order wins + HAL earnings miss on logistics</a:t>
            </a:r>
          </a:p>
          <a:p>
            <a:pPr>
              <a:spcAft>
                <a:spcPts val="800"/>
              </a:spcAft>
              <a:defRPr sz="1800">
                <a:solidFill>
                  <a:srgbClr val="1A1A1A"/>
                </a:solidFill>
              </a:defRPr>
            </a:pPr>
            <a:r>
              <a:t>•   • Q3: State Grid capex acceleration + NA rig count decline</a:t>
            </a:r>
          </a:p>
          <a:p>
            <a:pPr>
              <a:spcAft>
                <a:spcPts val="800"/>
              </a:spcAft>
              <a:defRPr sz="1800">
                <a:solidFill>
                  <a:srgbClr val="1A1A1A"/>
                </a:solidFill>
              </a:defRPr>
            </a:pPr>
            <a:r>
              <a:t>•   • Q4: Full-year margin differential becomes visible in earnings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430000" cy="731520"/>
          </a:xfrm>
          <a:prstGeom prst="rect">
            <a:avLst/>
          </a:prstGeom>
          <a:noFill/>
        </p:spPr>
        <p:txBody>
          <a:bodyPr wrap="none">
            <a:spAutoFit/>
          </a:bodyPr>
          <a:lstStyle/>
          <a:p>
            <a:pPr>
              <a:defRPr sz="2800" b="1">
                <a:solidFill>
                  <a:srgbClr val="002F5D"/>
                </a:solidFill>
              </a:defRPr>
            </a:pPr>
            <a:r>
              <a:t>Pair Trade Backtest: Long Sieyuan / Short HAL (2Y)</a:t>
            </a:r>
          </a:p>
        </p:txBody>
      </p:sp>
      <p:pic>
        <p:nvPicPr>
          <p:cNvPr id="3" name="Picture 2" descr="pair_trade_backtest.png"/>
          <p:cNvPicPr>
            <a:picLocks noChangeAspect="1"/>
          </p:cNvPicPr>
          <p:nvPr/>
        </p:nvPicPr>
        <p:blipFill>
          <a:blip r:embed="rId2"/>
          <a:stretch>
            <a:fillRect/>
          </a:stretch>
        </p:blipFill>
        <p:spPr>
          <a:xfrm>
            <a:off x="1371600" y="1188720"/>
            <a:ext cx="9144000" cy="5029200"/>
          </a:xfrm>
          <a:prstGeom prst="rect">
            <a:avLst/>
          </a:prstGeom>
        </p:spPr>
      </p:pic>
      <p:sp>
        <p:nvSpPr>
          <p:cNvPr id="4" name="TextBox 3"/>
          <p:cNvSpPr txBox="1"/>
          <p:nvPr/>
        </p:nvSpPr>
        <p:spPr>
          <a:xfrm>
            <a:off x="457200" y="6309360"/>
            <a:ext cx="11430000" cy="457200"/>
          </a:xfrm>
          <a:prstGeom prst="rect">
            <a:avLst/>
          </a:prstGeom>
          <a:noFill/>
        </p:spPr>
        <p:txBody>
          <a:bodyPr wrap="none">
            <a:spAutoFit/>
          </a:bodyPr>
          <a:lstStyle/>
          <a:p>
            <a:pPr>
              <a:defRPr sz="1200" i="1">
                <a:solidFill>
                  <a:srgbClr val="666666"/>
                </a:solidFill>
              </a:defRPr>
            </a:pPr>
            <a:r>
              <a:t>Dollar-neutral, 50-50 weight. Shows historical spread generation even through volatility.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74320"/>
          </a:xfrm>
          <a:prstGeom prst="rect">
            <a:avLst/>
          </a:prstGeom>
          <a:solidFill>
            <a:srgbClr val="E60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10972800" cy="1371600"/>
          </a:xfrm>
          <a:prstGeom prst="rect">
            <a:avLst/>
          </a:prstGeom>
          <a:noFill/>
        </p:spPr>
        <p:txBody>
          <a:bodyPr wrap="square">
            <a:spAutoFit/>
          </a:bodyPr>
          <a:lstStyle/>
          <a:p>
            <a:pPr>
              <a:defRPr sz="4400" b="1">
                <a:solidFill>
                  <a:srgbClr val="002F5D"/>
                </a:solidFill>
              </a:defRPr>
            </a:pPr>
            <a:r>
              <a:t>Recommendation</a:t>
            </a:r>
          </a:p>
        </p:txBody>
      </p:sp>
      <p:sp>
        <p:nvSpPr>
          <p:cNvPr id="4" name="TextBox 3"/>
          <p:cNvSpPr txBox="1"/>
          <p:nvPr/>
        </p:nvSpPr>
        <p:spPr>
          <a:xfrm>
            <a:off x="640080" y="3200400"/>
            <a:ext cx="10972800" cy="914400"/>
          </a:xfrm>
          <a:prstGeom prst="rect">
            <a:avLst/>
          </a:prstGeom>
          <a:noFill/>
        </p:spPr>
        <p:txBody>
          <a:bodyPr wrap="square">
            <a:spAutoFit/>
          </a:bodyPr>
          <a:lstStyle/>
          <a:p>
            <a:pPr>
              <a:defRPr sz="2200">
                <a:solidFill>
                  <a:srgbClr val="666666"/>
                </a:solidFill>
              </a:defRPr>
            </a:pPr>
            <a:r>
              <a:t>Long Sieyuan (+40%) / Short HAL (-29%) = Pair spread +70%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