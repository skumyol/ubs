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E6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2F5D"/>
                </a:solidFill>
              </a:defRPr>
            </a:pPr>
            <a:r>
              <a:t>Long the Grid, Short the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666666"/>
                </a:solidFill>
              </a:defRPr>
            </a:pPr>
            <a:r>
              <a:t>Energy security is moving from barrels to electrons  |  Long Dongfang Electric (1072.HK) / Short Yantai Jereh (002353.SZ)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Thesis: Own grid integration leader capturing State Grid RMB 4T capex + synchronous condenser breakthrough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Long Dongfang Electric @ target upside: 47.6%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Short Yantai Jereh @ target downside: -12.2%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Pair spread expected return: 59.8%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3 pillars: (1) Structural electricity demand (2) Grid capex visibility (3) Oilfield cost pressure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Key catalysts: State Grid 4T RMB capex, Dongfang synchronous condenser orders, Jereh margin pressure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Consensus: Energy Insecurity Means Owning Oil Exposure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Market reads geopolitical risk as bullish for oil and oilfield services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Strait of Hormuz, Middle East tensions, shipping route vulnerability drive headlines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Assumption chain: oil disruption → higher crude → higher upstream capex → better OFS earnings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This view has been the dominant energy-security trade since 2022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But consensus over-connects oil price spikes with durable service earnings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Variant View: The Real Energy-Security Trade Is Grid Resilience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Energy insecurity is not just about securing barrels — it is about securing reliable electricity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Data centers, EVs, industrial electrification, and cooling all stress the grid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Transformers, switchgear, transmission, substations — all in multi-year shortage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Governments treat grid hardening as national security infrastructure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→ Oil disruption is the symptom. Grid investment is the solution.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Electricity Continuity Is Becoming Strategic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Global electricity demand expected to grow ~4% annually through 2030 (IEA)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US data center power demand projected to 2-3x by 2030 — driving grid equipment orders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Transformer lead times 80-120 weeks; transmission queue 2+ years in most markets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EU, US, and China all have multi-year grid investment programs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Policy support: IRA, EU Grid Action Plan, China State Grid Five-Year 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Dongfang Electric: Grid Tech Leader with RMB 140B 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Pure-play transmission &amp; distribution equipment: switchgear, transformers, substation automation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Strong domestic grid orders from State Grid Corp + overseas expansion (Middle East, SE Asia)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Revenue growth trajectory supported by multi-year order backlog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Gross margins stable/improving vs peers; R&amp;D investment in digital grid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Variant gap: Market prices it as cyclical China equipment — we price it as global grid-resilience compounder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Yantai Jereh: Fossil-Cyclical with Policy Headwinds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Revenue tied to upstream capex cycles — North America, Middle East, offshore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Cost pressure: logistics, materials, labor compressing margins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Project delays and capex caution during geopolitical uncertainty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Rig count volatility = utilization risk outside company control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Higher oil prices ≠ higher service earnings (historical disconnect in disruption periods)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Historical Divergence: Market vs Dongfang Electric vs Yantai Jereh (2Y)</a:t>
            </a:r>
          </a:p>
        </p:txBody>
      </p:sp>
      <p:pic>
        <p:nvPicPr>
          <p:cNvPr id="3" name="Picture 2" descr="oil_jereh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Dongfang +96.8% expected (grid tailwind), Jereh -5.4% expected (fossil headwinds). Thesis: policy-driven divergence.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Same Energy-Security Theme, Opposite Earnings Quality</a:t>
            </a:r>
          </a:p>
        </p:txBody>
      </p:sp>
      <p:pic>
        <p:nvPicPr>
          <p:cNvPr id="3" name="Picture 2" descr="long_shor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Long Dongfang Electric captures grid capex tailwind. Short Yantai Jereh carries fossil transition risk.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Thematic Evidence Tracker: Text-Based Signal Compilation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49377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4267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Signal Cluster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Grid Equipment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Oilfield Services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upgrade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Electricity demand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Policy-backed capex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Logistics disruption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Margin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Low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Thesis support score: 0.2 | Moderate support for variant thesis | Grid signal share: 60%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Supporting Evidence: Text Classification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i="1">
                <a:solidFill>
                  <a:srgbClr val="1A1A1A"/>
                </a:solidFill>
              </a:defRPr>
            </a:pPr>
            <a:r>
              <a:t>"AI-assisted classification separated policy-backed grid capex signals from oilfield margin-risk signals, then human review selected the investment-relevant evidence."</a:t>
            </a:r>
          </a:p>
          <a:p>
            <a:pPr>
              <a:spcAft>
                <a:spcPts val="1200"/>
              </a:spcAft>
              <a:defRPr sz="1100">
                <a:solidFill>
                  <a:srgbClr val="666666"/>
                </a:solidFill>
              </a:defRPr>
            </a:pPr>
            <a:r>
              <a:t>  — DOC Pair Analysis Dongfang Jereh 2025  |  Policy-Backed Capex  |  conf 0.96</a:t>
            </a:r>
          </a:p>
          <a:p>
            <a:pPr>
              <a:spcAft>
                <a:spcPts val="400"/>
              </a:spcAft>
              <a:defRPr sz="1400" i="1">
                <a:solidFill>
                  <a:srgbClr val="1A1A1A"/>
                </a:solidFill>
              </a:defRPr>
            </a:pPr>
            <a:r>
              <a:t>"The strongest pair signal is not generic energy demand; it is earnings-quality divergence between Dongfang margin expansion and Jereh margin compression."</a:t>
            </a:r>
          </a:p>
          <a:p>
            <a:pPr>
              <a:spcAft>
                <a:spcPts val="1200"/>
              </a:spcAft>
              <a:defRPr sz="1100">
                <a:solidFill>
                  <a:srgbClr val="666666"/>
                </a:solidFill>
              </a:defRPr>
            </a:pPr>
            <a:r>
              <a:t>  — DOC Pair Analysis Dongfang Jereh 2025  |  Margin/Earnings Risk  |  conf 0.95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Evidence Trends: Monthly Text Signal Volume</a:t>
            </a:r>
          </a:p>
        </p:txBody>
      </p:sp>
      <p:pic>
        <p:nvPicPr>
          <p:cNvPr id="3" name="Picture 2" descr="signal_trends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Monthly evolution of classified text signals. Descriptive, not predictive. See validation report for predictive power analysis.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Evidence Frequency: Category Distribution</a:t>
            </a:r>
          </a:p>
        </p:txBody>
      </p:sp>
      <p:pic>
        <p:nvPicPr>
          <p:cNvPr id="3" name="Picture 2" descr="energy_signal_frequ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Text-classified paragraphs from public sources. Distribution reflects document sampling, not necessarily market reality.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Valuation: Peer Comparables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Ticker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Sector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 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Ev Ebitda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Roic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Revenue Growth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Profit Margin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DONGFANG ELEC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1072.HK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29.1x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34.0x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4.9%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GE Vernova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31.1x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82.2x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23.8%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Quanta Services,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PWR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92.6x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40.1x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3.6%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Eaton Corporation, PLC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ETN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39.4x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26.8x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14.9%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ABB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ABB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SCHNEIDER ELECTRIC 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SU.PA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Grid / Power Equipment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34.0x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21.2x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10.4%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YANTAI JEREH OILFIELD SERVICES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002353.SZ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Oilfield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45.0x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28.3x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16.7%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Grid peers command premium multiples on earnings visibility; OFS trades at cyclical discount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Valuation: DCF Cross-Check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876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Fcf0 Rmb Bn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Growth Rate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Terminal Growth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Wacc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Years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Enterprise Value Rmb Bn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Implied Value Per Share Rmb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Dongfang Electric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141.576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42.52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Yantai Jereh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43.094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42.25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Simple normalized FCF DCF used as a consistency check against the scenario framework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Long Scenarios: Dongfang Electric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/>
                <a:gridCol w="1567542"/>
                <a:gridCol w="1567542"/>
                <a:gridCol w="1567542"/>
                <a:gridCol w="1567542"/>
                <a:gridCol w="1567542"/>
                <a:gridCol w="1567548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Eps Growth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 Pe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 Eps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 Price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Upside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Probability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32.0x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42.32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38.0x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54.62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45.0x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72.45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Probability-weighted upside driven by overseas revenue mix and grid re-rating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Short Scenarios: Yantai Jereh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/>
                <a:gridCol w="1567542"/>
                <a:gridCol w="1567542"/>
                <a:gridCol w="1567542"/>
                <a:gridCol w="1567542"/>
                <a:gridCol w="1567542"/>
                <a:gridCol w="1567548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Eps Growth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 Pe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 Eps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 Price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Upside Pct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Probability</a:t>
                      </a:r>
                    </a:p>
                  </a:txBody>
                  <a:tcPr>
                    <a:solidFill>
                      <a:srgbClr val="002F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-5%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34.0x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85.27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-31%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40.0x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110.88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-11%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46.0x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145.73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Probability-weighted downside driven by margin compression and cyclical de-rate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EPS Sensitivity: What Drives Dongfang Valuation?</a:t>
            </a:r>
          </a:p>
        </p:txBody>
      </p:sp>
      <p:pic>
        <p:nvPicPr>
          <p:cNvPr id="3" name="Picture 2" descr="sensitivity_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Base case EPS ¥3.5. Grid equipment margin + State Grid orders are key drivers. Overseas export mix secondary.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Catalysts Over Next 6-12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LONG CATALYSTS (Dongfang):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Quarterly overseas order wins (Middle East, SE Asia)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China State Grid capex announcements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Gross margin expansion on overseas mix shift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SHORT CATALYSTS (Yantai Jereh):  • Q2 earnings miss on logistics cost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Guidance cut on North American rig count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Project deferral announcements from majors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Risks and Mitigants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Oil price spike may lift Jereh temporarily → pair trade cushions absolute exposure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Dongfang China beta/multiple compression → offset by 140B RMB backlog visibility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Grid capex delays → multi-year policy demand reduces single-year risk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FX risk on RMB → monitored; sensitivity table in appendix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SHORT SQUEEZE / BORROW COST: Jereh borrow cost ~2.5-7% (China A-share); position sizing limits risk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Thesis kill switch: Jereh margin expansion + Dongfang backlog decline → exit pair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Execution: Position Sizing, Carry &amp; Liquidity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POSITION SIZING (Risk-Based):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Portfolio: $100M example | Max risk per trade: 2% ($2M)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Pair volatility: 42% annual | Position size: 2.4% of portfolio ($2.4M notional)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Allocation: $1.2M long Dongfang / $1.2M short Jereh (dollar-neutral)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CARRY COST (6-month hold):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Jereh borrow cost: 2.5-7% annually → $5K-19K cost (China A-share)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Jereh dividend (short pays): 0.8% → ~$5K cost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Dongfang dividend (long receives): 1.5% → ~$9K income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Net carry: ~$18K-36K (1.5-3% of expected spread return)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LIQUIDITY &amp; EXECUTION: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Dongfang (HK): ~$147M daily volume | Execute in &lt;1 day | HKEX access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Jereh: ~$589M daily volume | Execute in &lt;1 day | Shenzhen A-share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Dongfang trades on HKEX (1072.HK) - no Stock Connect needed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TECHNICAL TIMING: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Jereh: Near highs, elevated RSI → Monitor for short entry signals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Dongfang: Near highs but policy tailwinds support entry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Text Analysis: Scope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WHAT THIS MODULE DOES: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Compiles text evidence from 55 documents into structured categories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Surfaces specific quotes and management language for manual review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Provides repeatable framework for future thematic research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HONEST LIMITATIONS: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Descriptive, not predictive — signals do NOT forecast returns (see validation)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330 paragraphs = small sample; limited statistical power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Classification relies on keyword patterns, not deep semantic understanding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Source bias: RSS feeds overweight news vs. operational 8-K filings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Every output requires human verification before investment decisions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The Trade: Thesis + Proof + Spread + Catalysts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THESIS: Energy insecurity is shifting from barrels to electrons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Grid equipment = multi-year capex visibility (policy + demand)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Oilfield services = margin compression + cyclical risk (even if oil rises)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HISTORICAL PROOF (2Y backtest):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Grid equipment leaders outperforming oilfield services structurally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Policy divergence: Grid capex tailwinds vs fossil headwinds driving spreads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Jereh more tied to upstream capex cycles than oil price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FORWARD EXPECTED RETURN: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Long Dongfang: +48% (prob-weighted)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Short Jereh: -12% (prob-weighted)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Pair spread: +60%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CATALYST TIMELINE: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Q2: Dongfang Q1 results + Jereh margin pressure visibility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Q3: State Grid capex acceleration + NA rig count decline</a:t>
            </a:r>
          </a:p>
          <a:p>
            <a:pPr>
              <a:spcAft>
                <a:spcPts val="800"/>
              </a:spcAft>
              <a:defRPr sz="1800">
                <a:solidFill>
                  <a:srgbClr val="1A1A1A"/>
                </a:solidFill>
              </a:defRPr>
            </a:pPr>
            <a:r>
              <a:t>•   • Q4: Full-year margin differential becomes visible in earnings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2F5D"/>
                </a:solidFill>
              </a:defRPr>
            </a:pPr>
            <a:r>
              <a:t>Pair Trade: Long Dongfang / Short Jereh - Policy Divergence Play</a:t>
            </a:r>
          </a:p>
        </p:txBody>
      </p:sp>
      <p:pic>
        <p:nvPicPr>
          <p:cNvPr id="3" name="Picture 2" descr="pair_trade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Dollar-neutral, 50-50 weight. Shows historical spread generation even through volatility.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E6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2F5D"/>
                </a:solidFill>
              </a:defRPr>
            </a:pPr>
            <a: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666666"/>
                </a:solidFill>
              </a:defRPr>
            </a:pPr>
            <a:r>
              <a:t>Long Dongfang (+48%) / Short Jereh (-12%) = Pair spread +60%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