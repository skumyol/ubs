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E6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02F5D"/>
                </a:solidFill>
              </a:defRPr>
            </a:pPr>
            <a:r>
              <a:t>Long the Grid, Short the Bottleneck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666666"/>
                </a:solidFill>
              </a:defRPr>
            </a:pPr>
            <a:r>
              <a:t>Hong Kong Track | Energy Transition | From Clean-Tech Growth to Grid-Backbone Value  |  Long Dongfang Electric (1072.HK) / Short Sungrow (300274.SZ)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233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66666"/>
                </a:solidFill>
              </a:defRPr>
            </a:pPr>
            <a:r>
              <a:t>Serkan Kumyol | Kirill Shatilov | Hong Kong University of Science and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Thesis: Own grid integration leader capturing State Grid RMB 4T capex + synchronous condenser breakthrough</a:t>
            </a:r>
          </a:p>
          <a:p>
            <a:r>
              <a:t>• Long Dongfang Electric @ target upside: 44.9%</a:t>
            </a:r>
          </a:p>
          <a:p>
            <a:r>
              <a:t>• Short Sungrow @ target downside: -67.5%</a:t>
            </a:r>
          </a:p>
          <a:p>
            <a:r>
              <a:t>• Pair spread expected return: 112.4%</a:t>
            </a:r>
          </a:p>
          <a:p>
            <a:r>
              <a:t>• 3 pillars: (1) Structural electricity demand (2) Grid capex visibility (3) Earnings-quality divergence</a:t>
            </a:r>
          </a:p>
          <a:p>
            <a:r>
              <a:t>• Key catalysts: State Grid 4T RMB capex, Dongfang synchronous condenser orders, Sungrow margin scrutiny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Variant View: The Real Energy-Security Trade Is Grid Resilience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Consensus treats energy-transition equipment winners as interchangeable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Variant view: energy security is no longer just securing barrels — it is reliable electricity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Data centers, EVs, industrial electrification, and cooling all stress the power system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Governments treat grid hardening as national security infrastructure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→ Oil disruption is the symptom. Grid investment is the solution.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Electricity Continuity Is Becoming Strategic Infrastructure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China's 15th FYP shifts the bottleneck from generation buildout to system reliability and grid integration</a:t>
            </a:r>
          </a:p>
          <a:p>
            <a:r>
              <a:t>• State Grid plans RMB 4 trillion of fixed-asset investment across 2026-2030, a step-up versus the prior cycle</a:t>
            </a:r>
          </a:p>
          <a:p>
            <a:r>
              <a:t>• New-type power system priorities include source-grid-load-storage coordination and grid flexibility</a:t>
            </a:r>
          </a:p>
          <a:p>
            <a:r>
              <a:t>• Dongfang is directly exposed to synchronous condensers, transmission equipment, and grid-supporting power equipment</a:t>
            </a:r>
          </a:p>
          <a:p>
            <a:r>
              <a:t>• This makes China grid capex, not generic global clean-tech beta, the key macro driver for the pair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Why Now: The Regime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⚠️ 2Y backtest can be unfavorable because broad energy-transition winners often rerated together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This is NOT a historically validated spread — it is a forward-looking variant view on regime shift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Past regime (2021-2024): Broad clean-tech beta lifted inverter and equipment winners together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New regime (2025-2030): Grid infrastructure durability beats high-growth clean-tech valuation risk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Stock-pool compliance: Dongfang is the pool anchor; Sungrow is the non-pool same-sector short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We are betting on the BREAKDOWN of historical correlation, not its continuation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Dongfang Electric: Grid Tech Leader with RMB 140B Backlog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Integrated power equipment and grid-integration leader with clean-energy equipment exposure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Strong domestic grid orders from State Grid Corp + overseas expansion (Middle East, SE Asia)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Revenue growth trajectory supported by multi-year order backlog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Gross margins stable/improving vs peers; R&amp;D investment in digital grid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Variant gap: Market prices it as cyclical China equipment — we price it as global grid-resilience compounder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Sungrow: High-Expectation Inverter Leader Facing Demand Normalization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High-expectation inverter and storage leader facing demand normalization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2025 strong results (Revenue RMB 89.2bn, +14.6%; Net Profit RMB 13.5bn, +22.0%)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Q1 2026 shows clear slowdown: Revenue -18.3% YoY, Net Profit -40.1% YoY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Premium multiple vulnerable to inverter/storage price compression and margin pressure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Short thesis is valuation de-rating as growth expectations normalize, not business failure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Historical Divergence: Market vs Dongfang Electric vs Sungrow (2Y)</a:t>
            </a:r>
          </a:p>
        </p:txBody>
      </p:sp>
      <p:pic>
        <p:nvPicPr>
          <p:cNvPr id="3" name="Picture 2" descr="oil_sungrow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1440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66666"/>
                </a:solidFill>
              </a:defRPr>
            </a:pPr>
            <a:r>
              <a:t>Historical result is a risk check, not proof. Forward case depends on grid infrastructure durability outperforming high-growth clean-tech valuation risk.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Empirical Setup: Forward Predictive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188720"/>
          <a:ext cx="49377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</a:tblGrid>
              <a:tr h="426720">
                <a:tc>
                  <a:txBody>
                    <a:bodyPr/>
                    <a:lstStyle/>
                    <a:p>
                      <a:r>
                        <a:t>Pillar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Evidence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Signal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t>Historical spread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2Y simulated pair P&amp;L was 101.4%; Dongfang Electric 2Y return 295.4% vs Sungrow 92.5%.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Risk / contradiction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t>Earnings durability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Dongfang Electric delivered 2025 net profit growth of 31.1% on 12.8% revenue growth, backed by order visibility, while Sungrow moved from +22.0% full-year profit growth to -40.1% YoY in Q1 2026.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Supports long Dongfang Electric / short Sungrow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t>Valuation stretch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Sungrow trades at a 8.9x P/E premium and 5.4x P/B gap to Dongfang Electric (45.0x/8.5x vs 36.1x/3.1x).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Supports short Sungrow if margin recovery disappoints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t>Technical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Sungrow is at 66.9% of its 52-week high with RSI 59.3, while Dongfang Electric is at 87.2% with RSI 50.9.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Supports timing discipline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t>Scenario valuation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Probability-weighted modeled pair spread is 112.4%.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Forward prediction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3093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66666"/>
                </a:solidFill>
              </a:defRPr>
            </a:pPr>
            <a:r>
              <a:t>Separates adverse historical backtest from current empirical setup and forward catalysts.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Same Energy-Transition Theme, Opposite Cycle Position</a:t>
            </a:r>
          </a:p>
        </p:txBody>
      </p:sp>
      <p:pic>
        <p:nvPicPr>
          <p:cNvPr id="3" name="Picture 2" descr="long_short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1440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66666"/>
                </a:solidFill>
              </a:defRPr>
            </a:pPr>
            <a:r>
              <a:t>Long Dongfang Electric captures grid capex tailwind. Short Sungrow carries high-expectation inverter and storage de-rating risk.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Thematic Evidence Tracker: Text-Based Signal Compilation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188720"/>
          <a:ext cx="49377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</a:tblGrid>
              <a:tr h="426720">
                <a:tc>
                  <a:txBody>
                    <a:bodyPr/>
                    <a:lstStyle/>
                    <a:p>
                      <a:r>
                        <a:t>Signal Cluster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Grid Equipment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Inverter &amp; Storage Equipment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t>Grid upgrade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Medium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t>Electricity demand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High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t>Policy-backed capex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t>Logistics disruption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t>Margin pressure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3093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Thesis support score: 0.244 | Moderate support for variant thesis | Grid signal share: 60%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Valuation: Peer Comparables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18872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11480">
                <a:tc>
                  <a:txBody>
                    <a:bodyPr/>
                    <a:lstStyle/>
                    <a:p>
                      <a:r>
                        <a:t>Company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Ticker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Sector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P/E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EV/EBITDA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ROIC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Revenue Growth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Profit Margin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t>DONGFANG ELEC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1072.HK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Grid / Power Equipment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29.6x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34.0x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4.9%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t>GE Vernova Inc.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Grid / Power Equipment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31.7x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82.2x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23.8%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t>Quanta Services, Inc.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PWR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Grid / Power Equipment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104.1x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40.1x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3.6%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t>Eaton Corporation, PLC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ETN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Grid / Power Equipment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40.6x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26.8x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14.9%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t>ABB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ABB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Grid / Power Equipment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N/A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t>SCHNEIDER ELECTRIC 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SU.PA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Grid / Power Equipment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33.4x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21.2x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10.4%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t>SUNGROW POWER SUPPLY CO LTD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300274.SZ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Inverter / Storage Equipment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23.7x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16.9x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-18.3%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13.9%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3093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Comps compare Dongfang's grid-backbone exposure against premium downstream inverter/storage valuation risk.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Valuation: DCF Cross-Check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188720"/>
          <a:ext cx="10972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876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Company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Fcf0 Rmb Bn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Growth Rate Pct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Terminal Growth Pct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Wacc Pct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Years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Enterprise Value Rmb Bn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Implied Value Per Share Rmb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Dongfang Electric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112.009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33.64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Sungrow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156.707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106.6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3093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66666"/>
                </a:solidFill>
              </a:defRPr>
            </a:pPr>
            <a:r>
              <a:t>Simple normalized FCF DCF used as a consistency check against the scenario framework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Long Scenarios: Dongfang Electric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18872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542"/>
                <a:gridCol w="1567542"/>
                <a:gridCol w="1567542"/>
                <a:gridCol w="1567542"/>
                <a:gridCol w="1567542"/>
                <a:gridCol w="1567542"/>
                <a:gridCol w="1567548"/>
              </a:tblGrid>
              <a:tr h="457200">
                <a:tc>
                  <a:txBody>
                    <a:bodyPr/>
                    <a:lstStyle/>
                    <a:p>
                      <a:r>
                        <a:t>scenario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eps_growth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target_pe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target_eps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target_price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upside_pct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probability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Bear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+15%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32.0x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42.32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+8%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+25%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38.0x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54.62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+40%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55%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Bull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+40%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45.0x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72.45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+85%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25%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3093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66666"/>
                </a:solidFill>
              </a:defRPr>
            </a:pPr>
            <a:r>
              <a:t>Probability-weighted upside driven by overseas revenue mix and grid re-rating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Short Scenarios: Sungrow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18872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542"/>
                <a:gridCol w="1567542"/>
                <a:gridCol w="1567542"/>
                <a:gridCol w="1567542"/>
                <a:gridCol w="1567542"/>
                <a:gridCol w="1567542"/>
                <a:gridCol w="1567548"/>
              </a:tblGrid>
              <a:tr h="457200">
                <a:tc>
                  <a:txBody>
                    <a:bodyPr/>
                    <a:lstStyle/>
                    <a:p>
                      <a:r>
                        <a:t>scenario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eps_growth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target_pe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target_eps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target_price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upside_pct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probability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Bear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+0%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36.0x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33.12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-76%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35%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+8%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44.0x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43.72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45%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Bull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+25%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58.0x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-51%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3093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66666"/>
                </a:solidFill>
              </a:defRPr>
            </a:pPr>
            <a:r>
              <a:t>Probability-weighted downside driven by thin margins and multiple compression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Catalysts Over Next 6-12 Months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LONG CATALYSTS (Dongfang):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Quarterly overseas order wins (Middle East, SE Asia)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China State Grid capex announcements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Gross margin expansion on overseas mix shift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SHORT CATALYSTS (Sungrow):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Margin recovery falls short of expectations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Inverter/storage pricing pressure persists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Investors de-rate premium clean-tech expectations vs backlog-backed grid exposure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Risks and Mitigants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Broad power-equipment rally may lift Sungrow temporarily → position sizing limits risk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Dongfang China beta/multiple compression → offset by 140B RMB backlog visibility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Grid capex delays → multi-year policy demand reduces single-year risk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FX risk on RMB → monitored; sensitivity table in appendix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SHORT SQUEEZE / BORROW COST: Sungrow borrow cost assumed ~2.5-7%; position sizing limits risk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Thesis kill switch: Sungrow margin expansion + Dongfang backlog decline → exit pair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Execution: Position Sizing, Carry &amp; Liquidity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POSITION SIZING (Risk-Based):</a:t>
            </a:r>
          </a:p>
          <a:p>
            <a:r>
              <a:t>•   • Portfolio: $100M example | Max risk per trade: 2% ($2M)</a:t>
            </a:r>
          </a:p>
          <a:p>
            <a:r>
              <a:t>•   • Pair volatility: 80.3% annual | Position size: 1.2% of portfolio ($1.2M notional)</a:t>
            </a:r>
          </a:p>
          <a:p>
            <a:r>
              <a:t>•   • Allocation: $0.6M long Dongfang / $0.6M short Sungrow (dollar-neutral)</a:t>
            </a:r>
          </a:p>
          <a:p>
            <a:r>
              <a:t>• </a:t>
            </a:r>
          </a:p>
          <a:p>
            <a:r>
              <a:t>• CARRY COST (6-month hold):</a:t>
            </a:r>
          </a:p>
          <a:p>
            <a:r>
              <a:t>•   • Sungrow borrow cost: 2.5-7% annually</a:t>
            </a:r>
          </a:p>
          <a:p>
            <a:r>
              <a:t>•   • Sungrow dividend/carry checked before execution</a:t>
            </a:r>
          </a:p>
          <a:p>
            <a:r>
              <a:t>•   • Dongfang dividend (long receives): 1.5% → ~$9K income</a:t>
            </a:r>
          </a:p>
          <a:p>
            <a:r>
              <a:t>•   • Net carry: ~$13K-27K based on current trader analysis</a:t>
            </a:r>
          </a:p>
          <a:p>
            <a:r>
              <a:t>• </a:t>
            </a:r>
          </a:p>
          <a:p>
            <a:r>
              <a:t>• LIQUIDITY &amp; EXECUTION:</a:t>
            </a:r>
          </a:p>
          <a:p>
            <a:r>
              <a:t>•   • Dongfang (HK): ~$148M daily volume | Execute in &lt;1 day | HKEX access</a:t>
            </a:r>
          </a:p>
          <a:p>
            <a:r>
              <a:t>•   • Sungrow: highly liquid A-share leg; execute in slices after borrow is confirmed</a:t>
            </a:r>
          </a:p>
          <a:p>
            <a:r>
              <a:t>•   • Dongfang trades on HKEX (1072.HK) - no Stock Connect needed</a:t>
            </a:r>
          </a:p>
          <a:p>
            <a:r>
              <a:t>• </a:t>
            </a:r>
          </a:p>
          <a:p>
            <a:r>
              <a:t>• TECHNICAL TIMING:</a:t>
            </a:r>
          </a:p>
          <a:p>
            <a:r>
              <a:t>•   • Sungrow: RSI 59.3 | 66.9% of 52-week high</a:t>
            </a:r>
          </a:p>
          <a:p>
            <a:r>
              <a:t>•   • Dongfang: RSI 50.9 | 87.2% of 52-week high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Text Analysis: Scope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WHAT THIS MODULE DOES: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Compiles text evidence from 59 documents / 455 paragraphs into structured categories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Surfaces specific quotes and management language for manual review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Feeds a predictive scorecard with fundamentals, valuation, technicals, and catalysts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CLAIM BOUNDARY: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Predictive input, not autonomous forecast — text signals do not trade themselves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Corpus is useful for thesis discovery, but still too small for standalone statistical alpha claims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Classification relies on keyword patterns, not deep semantic understanding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Source bias: RSS feeds overweight news vs. operational 8-K filings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Every output requires human verification before investment decisions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E6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02F5D"/>
                </a:solidFill>
              </a:defRPr>
            </a:pPr>
            <a: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Long Dongfang (+45%) / Short Sungrow (-68%) = Pair spread +112%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