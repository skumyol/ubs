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47104"/>
            <a:ext cx="12188952" cy="0"/>
          </a:xfrm>
          <a:prstGeom prst="line">
            <a:avLst/>
          </a:prstGeom>
          <a:noFill/>
          <a:ln w="8890">
            <a:solidFill>
              <a:srgbClr val="1E29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592824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UBS Finance Challenge • Energy Transition Pair Trade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1E295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1E295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B342"/>
          </a:solidFill>
          <a:ln w="12700">
            <a:solidFill>
              <a:srgbClr val="E6B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051560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B342"/>
                </a:solidFill>
              </a:rPr>
              <a:t>ENERGY TRANSITION PAIR TRADE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86868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</a:rPr>
              <a:t>Long the Grid,</a:t>
            </a:r>
            <a:endParaRPr lang="en-US" sz="3900" dirty="0"/>
          </a:p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</a:rPr>
              <a:t>Short the Bottleneck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594360" y="3154680"/>
            <a:ext cx="1097280" cy="54864"/>
          </a:xfrm>
          <a:prstGeom prst="rect">
            <a:avLst/>
          </a:prstGeom>
          <a:solidFill>
            <a:srgbClr val="E6B342"/>
          </a:solidFill>
          <a:ln w="12700">
            <a:solidFill>
              <a:srgbClr val="E6B3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47472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CE2FF"/>
                </a:solidFill>
              </a:rPr>
              <a:t>Thesis: energy security is shifting from protecting barrels to protecting electricity continuity.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43159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Trade recommendation: Long Sieyuan Electric • Short Halliburton / SLB / NOV candidate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598932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C7F5"/>
                </a:solidFill>
              </a:rPr>
              <a:t>Prepared as an implementation-ready blueprint for a ≤20 page UBS Finance Challenge deck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1E295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10312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B342"/>
                </a:solidFill>
              </a:rPr>
              <a:t>1. RECOMMENDATION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84048" y="530352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E295F"/>
                </a:solidFill>
              </a:rPr>
              <a:t>Executive Summary: from barrels to electrons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84048" y="1097280"/>
            <a:ext cx="566928" cy="54864"/>
          </a:xfrm>
          <a:prstGeom prst="rect">
            <a:avLst/>
          </a:prstGeom>
          <a:solidFill>
            <a:srgbClr val="E6B342"/>
          </a:solidFill>
          <a:ln w="12700">
            <a:solidFill>
              <a:srgbClr val="E6B3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3474720" cy="4023360"/>
          </a:xfrm>
          <a:prstGeom prst="roundRect">
            <a:avLst>
              <a:gd name="adj" fmla="val 2105"/>
            </a:avLst>
          </a:prstGeom>
          <a:solidFill>
            <a:srgbClr val="1E295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25400" dist="50800" dir="2700000">
              <a:srgbClr val="999999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7512" y="1554480"/>
            <a:ext cx="3145536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6B342"/>
                </a:solidFill>
              </a:rPr>
              <a:t>One-sentence variant view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67512" y="1947672"/>
            <a:ext cx="3145536" cy="3383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Consensus sees energy insecurity as bullish for oil-service cyclicals; we believe the more durable trade is to own grid infrastructure, because the policy and corporate response is shifting from fuel supply to electricity continuity.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43400" y="157276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BBF59"/>
                </a:solidFill>
              </a:rPr>
              <a:t>Sieyuan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343400" y="207568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Long target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43400" y="2414016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</a:rPr>
              <a:t>Pool stock; China grid equipment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629400" y="157276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82E2F"/>
                </a:solidFill>
              </a:rPr>
              <a:t>Halliburton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629400" y="207568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Short candidate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29400" y="2414016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</a:rPr>
              <a:t>Oilfield services exposed to logistics costs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509760" y="15727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5F"/>
                </a:solidFill>
              </a:rPr>
              <a:t>Grid capex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509760" y="207568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Theme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509760" y="241401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</a:rPr>
              <a:t>Security spending migrates to power systems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297680" y="3017520"/>
            <a:ext cx="1463040" cy="347472"/>
          </a:xfrm>
          <a:prstGeom prst="rect">
            <a:avLst/>
          </a:prstGeom>
          <a:solidFill>
            <a:srgbClr val="1E295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43400" y="3099816"/>
            <a:ext cx="137160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Claim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760720" y="3017520"/>
            <a:ext cx="2834640" cy="347472"/>
          </a:xfrm>
          <a:prstGeom prst="rect">
            <a:avLst/>
          </a:prstGeom>
          <a:solidFill>
            <a:srgbClr val="D82E2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06440" y="3099816"/>
            <a:ext cx="274320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Why it matters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595360" y="3017520"/>
            <a:ext cx="2834640" cy="347472"/>
          </a:xfrm>
          <a:prstGeom prst="rect">
            <a:avLst/>
          </a:prstGeom>
          <a:solidFill>
            <a:srgbClr val="D82E2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41080" y="3099816"/>
            <a:ext cx="274320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Deck proof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297680" y="3364992"/>
            <a:ext cx="14630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61688" y="3438144"/>
            <a:ext cx="133502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11111"/>
                </a:solidFill>
              </a:rPr>
              <a:t>Macro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5760720" y="3364992"/>
            <a:ext cx="2834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24728" y="3438144"/>
            <a:ext cx="270662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Oil routes are vulnerable; electricity demand is rising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8595360" y="3364992"/>
            <a:ext cx="2834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59368" y="3438144"/>
            <a:ext cx="270662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IEA oil disruption + electricity/grid investment data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4297680" y="3867912"/>
            <a:ext cx="146304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61688" y="3941064"/>
            <a:ext cx="133502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11111"/>
                </a:solidFill>
              </a:rPr>
              <a:t>Long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5760720" y="3867912"/>
            <a:ext cx="283464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24728" y="3941064"/>
            <a:ext cx="270662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Sieyuan benefits from grid hardening and overseas demand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8595360" y="3867912"/>
            <a:ext cx="283464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59368" y="3941064"/>
            <a:ext cx="270662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Revenue growth, product exposure, backlog/proxy data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4297680" y="4370832"/>
            <a:ext cx="14630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61688" y="4443984"/>
            <a:ext cx="133502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11111"/>
                </a:solidFill>
              </a:rPr>
              <a:t>Short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5760720" y="4370832"/>
            <a:ext cx="2834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24728" y="4443984"/>
            <a:ext cx="270662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Oilfield upside is not automatic in disruption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8595360" y="4370832"/>
            <a:ext cx="2834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59368" y="4443984"/>
            <a:ext cx="270662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Transcript/news cluster: costs, delays, regional risk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4297680" y="4873752"/>
            <a:ext cx="146304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61688" y="4946904"/>
            <a:ext cx="133502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11111"/>
                </a:solidFill>
              </a:rPr>
              <a:t>AI edge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5760720" y="4873752"/>
            <a:ext cx="283464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24728" y="4946904"/>
            <a:ext cx="270662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Narrative is oil-heavy; capex signal is grid-heavy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8595360" y="4873752"/>
            <a:ext cx="283464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59368" y="4946904"/>
            <a:ext cx="270662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AI Energy Security Signal Tracker</a:t>
            </a:r>
            <a:endParaRPr lang="en-US" sz="820" dirty="0"/>
          </a:p>
        </p:txBody>
      </p:sp>
      <p:sp>
        <p:nvSpPr>
          <p:cNvPr id="47" name="Text 45"/>
          <p:cNvSpPr/>
          <p:nvPr/>
        </p:nvSpPr>
        <p:spPr>
          <a:xfrm>
            <a:off x="384048" y="6300216"/>
            <a:ext cx="10515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778090"/>
                </a:solidFill>
              </a:rPr>
              <a:t>Sources: IEA Electricity 2026; IEA Oil Market Report Apr 2026; HKEX Sieyuan Electric filing; Reuters / company news.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1E295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10312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B342"/>
                </a:solidFill>
              </a:rPr>
              <a:t>2. RESEARCH DISCIPLINE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84048" y="530352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E295F"/>
                </a:solidFill>
              </a:rPr>
              <a:t>Borrow the winning formula: consensus → gap → quantification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84048" y="1097280"/>
            <a:ext cx="566928" cy="54864"/>
          </a:xfrm>
          <a:prstGeom prst="rect">
            <a:avLst/>
          </a:prstGeom>
          <a:solidFill>
            <a:srgbClr val="E6B342"/>
          </a:solidFill>
          <a:ln w="12700">
            <a:solidFill>
              <a:srgbClr val="E6B3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rgbClr val="1E295F"/>
          </a:solidFill>
          <a:ln w="12700">
            <a:solidFill>
              <a:srgbClr val="1E29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655064"/>
            <a:ext cx="14630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B342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07008" y="15270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5F"/>
                </a:solidFill>
              </a:rPr>
              <a:t>Read consensus first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07008" y="1892808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</a:rPr>
              <a:t>Map what sell-side and market already believe: energy insecurity = oil upside.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502920" cy="502920"/>
          </a:xfrm>
          <a:prstGeom prst="ellipse">
            <a:avLst/>
          </a:prstGeom>
          <a:solidFill>
            <a:srgbClr val="1E295F"/>
          </a:solidFill>
          <a:ln w="12700">
            <a:solidFill>
              <a:srgbClr val="1E29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660904"/>
            <a:ext cx="14630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B342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07008" y="253288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5F"/>
                </a:solidFill>
              </a:rPr>
              <a:t>Hunt for the gap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2898648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</a:rPr>
              <a:t>Ask what the market is missing: disruption creates capex reallocation, not just price spikes.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502920" cy="502920"/>
          </a:xfrm>
          <a:prstGeom prst="ellipse">
            <a:avLst/>
          </a:prstGeom>
          <a:solidFill>
            <a:srgbClr val="1E295F"/>
          </a:solidFill>
          <a:ln w="12700">
            <a:solidFill>
              <a:srgbClr val="1E29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666744"/>
            <a:ext cx="14630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B342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07008" y="3538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5F"/>
                </a:solidFill>
              </a:rPr>
              <a:t>Triangulate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07008" y="3904488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</a:rPr>
              <a:t>Use reports, filings, transcripts, news, order data, and expert/primary proxies.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1E295F"/>
          </a:solidFill>
          <a:ln w="12700">
            <a:solidFill>
              <a:srgbClr val="1E29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4672584"/>
            <a:ext cx="14630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B342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07008" y="454456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5F"/>
                </a:solidFill>
              </a:rPr>
              <a:t>Quantify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07008" y="4910328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</a:rPr>
              <a:t>Translate the qualitative gap into revenue, margin, multiple and valuation scenarios.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452360" y="1463040"/>
            <a:ext cx="3977640" cy="3931920"/>
          </a:xfrm>
          <a:prstGeom prst="roundRect">
            <a:avLst>
              <a:gd name="adj" fmla="val 1860"/>
            </a:avLst>
          </a:prstGeom>
          <a:solidFill>
            <a:srgbClr val="1E295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25400" dist="50800" dir="2700000">
              <a:srgbClr val="999999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616952" y="1600200"/>
            <a:ext cx="3648456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6B342"/>
                </a:solidFill>
              </a:rPr>
              <a:t>Biggest lesson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616952" y="1993392"/>
            <a:ext cx="3648456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“If you can’t write your variant view in one sentence, you don’t have one yet.”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Our sentence: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Energy security is moving from barrels to electrons; long grid infrastructure, short oilfield logistics fragility.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84048" y="6300216"/>
            <a:ext cx="10515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778090"/>
                </a:solidFill>
              </a:rPr>
              <a:t>Derived from the uploaded UBS Stock Pitch sharing-session screenshots and summary notes.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1E295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10312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B342"/>
                </a:solidFill>
              </a:rPr>
              <a:t>3. VARIANT 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84048" y="530352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E295F"/>
                </a:solidFill>
              </a:rPr>
              <a:t>Consensus is comfortable; our variant view is sharper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84048" y="1097280"/>
            <a:ext cx="566928" cy="54864"/>
          </a:xfrm>
          <a:prstGeom prst="rect">
            <a:avLst/>
          </a:prstGeom>
          <a:solidFill>
            <a:srgbClr val="E6B342"/>
          </a:solidFill>
          <a:ln w="12700">
            <a:solidFill>
              <a:srgbClr val="E6B3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2834640" cy="384048"/>
          </a:xfrm>
          <a:prstGeom prst="roundRect">
            <a:avLst>
              <a:gd name="adj" fmla="val 19048"/>
            </a:avLst>
          </a:prstGeom>
          <a:solidFill>
            <a:srgbClr val="D82E2F"/>
          </a:solidFill>
          <a:ln w="12700">
            <a:solidFill>
              <a:srgbClr val="D82E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9047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Consensus view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1901952"/>
            <a:ext cx="2834640" cy="33375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25400" dist="50800" dir="2700000">
              <a:srgbClr val="999999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50392" y="2039112"/>
            <a:ext cx="2505456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295F"/>
                </a:solidFill>
              </a:rPr>
              <a:t>“Energy insecurity = buy oil exposure”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0392" y="2432304"/>
            <a:ext cx="2505456" cy="2697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</a:rPr>
              <a:t>• Oil routes are disrupted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</a:rPr>
              <a:t>• Producers need more supply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</a:rPr>
              <a:t>• Oilfield services benefit from higher activity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</a:rPr>
              <a:t>• Higher prices support upstream capex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931920" y="2971800"/>
            <a:ext cx="685800" cy="685800"/>
          </a:xfrm>
          <a:prstGeom prst="chevron">
            <a:avLst/>
          </a:prstGeom>
          <a:solidFill>
            <a:srgbClr val="E6B342"/>
          </a:solidFill>
          <a:ln w="12700">
            <a:solidFill>
              <a:srgbClr val="E6B3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92040" y="141732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1E295F"/>
          </a:solidFill>
          <a:ln w="12700">
            <a:solidFill>
              <a:srgbClr val="1E29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490472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Our variant view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92040" y="1901952"/>
            <a:ext cx="3108960" cy="33375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25400" dist="50800" dir="2700000">
              <a:srgbClr val="999999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56632" y="2039112"/>
            <a:ext cx="2779776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295F"/>
                </a:solidFill>
              </a:rPr>
              <a:t>“Security spending moves to grid resilience”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56632" y="2432304"/>
            <a:ext cx="2779776" cy="2697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</a:rPr>
              <a:t>• Oil disruption exposes fragility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</a:rPr>
              <a:t>• The solution is not only drilling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</a:rPr>
              <a:t>• Electricity continuity becomes strategic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</a:rPr>
              <a:t>• Grid equipment wins from multi-year capex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595360" y="1417320"/>
            <a:ext cx="2606040" cy="384048"/>
          </a:xfrm>
          <a:prstGeom prst="roundRect">
            <a:avLst>
              <a:gd name="adj" fmla="val 19048"/>
            </a:avLst>
          </a:prstGeom>
          <a:solidFill>
            <a:srgbClr val="E6B342"/>
          </a:solidFill>
          <a:ln w="12700">
            <a:solidFill>
              <a:srgbClr val="E6B3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41080" y="1490472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Trade expression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595360" y="1901952"/>
            <a:ext cx="2606040" cy="33375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25400" dist="50800" dir="2700000">
              <a:srgbClr val="999999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759952" y="2039112"/>
            <a:ext cx="2276856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295F"/>
                </a:solidFill>
              </a:rPr>
              <a:t>Long the grid, short the bottleneck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759952" y="2432304"/>
            <a:ext cx="2276856" cy="2697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</a:rPr>
              <a:t>Long Sieyuan Electric for grid-hardening exposure.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</a:rPr>
              <a:t>Short oilfield services where disruption can raise costs, delay projects and compress margins.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1E295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10312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B342"/>
                </a:solidFill>
              </a:rPr>
              <a:t>4. INDUSTRY SETUP 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84048" y="530352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E295F"/>
                </a:solidFill>
              </a:rPr>
              <a:t>Oil insecurity is a symptom: logistics vulnerability is now visible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84048" y="1097280"/>
            <a:ext cx="566928" cy="54864"/>
          </a:xfrm>
          <a:prstGeom prst="rect">
            <a:avLst/>
          </a:prstGeom>
          <a:solidFill>
            <a:srgbClr val="E6B342"/>
          </a:solidFill>
          <a:ln w="12700">
            <a:solidFill>
              <a:srgbClr val="E6B3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5087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82E2F"/>
                </a:solidFill>
              </a:rPr>
              <a:t>-10.1 mb/d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58368" y="201168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March 2026 oil supply change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235000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</a:rPr>
              <a:t>IEA: largest disruption in history, driven by Middle East attacks and Hormuz restrictions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474720" y="15087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5F"/>
                </a:solidFill>
              </a:rPr>
              <a:t>Hormuz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474720" y="201168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Strategic chokepoint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0" y="235000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</a:rPr>
              <a:t>Restrictions to tanker movement changed supply availability and risk premia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309360" y="1508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82E2F"/>
                </a:solidFill>
              </a:rPr>
              <a:t>Higher costs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09360" y="201168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Oil-service pressure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09360" y="235000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</a:rPr>
              <a:t>Freight, logistics, transportation and raw materials become margin headwinds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40080" y="3246120"/>
            <a:ext cx="4754880" cy="1737360"/>
          </a:xfrm>
          <a:prstGeom prst="roundRect">
            <a:avLst>
              <a:gd name="adj" fmla="val 4211"/>
            </a:avLst>
          </a:prstGeom>
          <a:solidFill>
            <a:srgbClr val="F4F6F8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25400" dist="50800" dir="2700000">
              <a:srgbClr val="999999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4672" y="3383280"/>
            <a:ext cx="4425696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295F"/>
                </a:solidFill>
              </a:rPr>
              <a:t>What this proves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" y="3776472"/>
            <a:ext cx="4425696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</a:rPr>
              <a:t>Energy logistics are becoming more fragile. But this does not automatically make oilfield services the best long; disruption can interrupt operations, raise costs and defer projects.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60720" y="324612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FCEAEA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25400" dist="50800" dir="2700000">
              <a:srgbClr val="999999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25312" y="3383280"/>
            <a:ext cx="5065776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82E2F"/>
                </a:solidFill>
              </a:rPr>
              <a:t>How it enters the short case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25312" y="3776472"/>
            <a:ext cx="5065776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</a:rPr>
              <a:t>Our short is not “oil demand disappears.” It is that the market over-simplifies the earnings transfer from crisis to oilfield services and underprices the operating frictions created by the same crisis.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" y="6300216"/>
            <a:ext cx="10515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778090"/>
                </a:solidFill>
              </a:rPr>
              <a:t>Sources: IEA Oil Market Report Apr 2026; Reuters on SLB/Halliburton cost pressure.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1E295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10312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B342"/>
                </a:solidFill>
              </a:rPr>
              <a:t>5. INDUSTRY SETUP B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84048" y="530352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E295F"/>
                </a:solidFill>
              </a:rPr>
              <a:t>The solution is electricity continuity: grid capex becomes strategic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84048" y="1097280"/>
            <a:ext cx="566928" cy="54864"/>
          </a:xfrm>
          <a:prstGeom prst="rect">
            <a:avLst/>
          </a:prstGeom>
          <a:solidFill>
            <a:srgbClr val="E6B342"/>
          </a:solidFill>
          <a:ln w="12700">
            <a:solidFill>
              <a:srgbClr val="E6B3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5F"/>
                </a:solidFill>
              </a:rPr>
              <a:t>~3.6% CAGR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Global electricity demand growth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30428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</a:rPr>
              <a:t>IEA forecast for 2026–2030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383280" y="14630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BBF59"/>
                </a:solidFill>
              </a:rPr>
              <a:t>+50%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383280" y="196596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Annual grid investment need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0" y="230428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</a:rPr>
              <a:t>By 2030 from roughly US$400bn today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217920" y="14630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5F"/>
                </a:solidFill>
              </a:rPr>
              <a:t>AI + EVs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217920" y="196596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Demand drivers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0" y="230428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</a:rPr>
              <a:t>Data centers, cooling, industry, EV charging and electrification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31520" y="3246120"/>
            <a:ext cx="9875520" cy="0"/>
          </a:xfrm>
          <a:prstGeom prst="line">
            <a:avLst/>
          </a:prstGeom>
          <a:noFill/>
          <a:ln w="12700">
            <a:solidFill>
              <a:srgbClr val="DF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017520"/>
            <a:ext cx="502920" cy="502920"/>
          </a:xfrm>
          <a:prstGeom prst="ellipse">
            <a:avLst/>
          </a:prstGeom>
          <a:solidFill>
            <a:srgbClr val="1E295F"/>
          </a:solidFill>
          <a:ln w="12700">
            <a:solidFill>
              <a:srgbClr val="1E29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3163824"/>
            <a:ext cx="18288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0080" y="3675888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Data centers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26080" y="3017520"/>
            <a:ext cx="502920" cy="502920"/>
          </a:xfrm>
          <a:prstGeom prst="ellipse">
            <a:avLst/>
          </a:prstGeom>
          <a:solidFill>
            <a:srgbClr val="E6B342"/>
          </a:solidFill>
          <a:ln w="12700">
            <a:solidFill>
              <a:srgbClr val="E6B3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90672" y="3163824"/>
            <a:ext cx="18288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743200" y="3675888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EV charging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0" y="3017520"/>
            <a:ext cx="502920" cy="502920"/>
          </a:xfrm>
          <a:prstGeom prst="ellipse">
            <a:avLst/>
          </a:prstGeom>
          <a:solidFill>
            <a:srgbClr val="1E295F"/>
          </a:solidFill>
          <a:ln w="12700">
            <a:solidFill>
              <a:srgbClr val="1E29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93792" y="3163824"/>
            <a:ext cx="18288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46320" y="3675888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Renewables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32320" y="3017520"/>
            <a:ext cx="502920" cy="502920"/>
          </a:xfrm>
          <a:prstGeom prst="ellipse">
            <a:avLst/>
          </a:prstGeom>
          <a:solidFill>
            <a:srgbClr val="E6B342"/>
          </a:solidFill>
          <a:ln w="12700">
            <a:solidFill>
              <a:srgbClr val="E6B3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96912" y="3163824"/>
            <a:ext cx="18288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949440" y="3675888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Industrial electrification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235440" y="3017520"/>
            <a:ext cx="502920" cy="502920"/>
          </a:xfrm>
          <a:prstGeom prst="ellipse">
            <a:avLst/>
          </a:prstGeom>
          <a:solidFill>
            <a:srgbClr val="1E295F"/>
          </a:solidFill>
          <a:ln w="12700">
            <a:solidFill>
              <a:srgbClr val="1E29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00032" y="3163824"/>
            <a:ext cx="18288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052560" y="3675888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Grid resilience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" y="4572000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1E295F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4672" y="4709160"/>
            <a:ext cx="10186416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6B342"/>
                </a:solidFill>
              </a:rPr>
              <a:t>Implication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04672" y="5102352"/>
            <a:ext cx="10186416" cy="182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Oil disruption raises the urgency of energy security; rising electricity demand defines where security capex must go. That is the bridge to Sieyuan Electric.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84048" y="6300216"/>
            <a:ext cx="10515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778090"/>
                </a:solidFill>
              </a:rPr>
              <a:t>Sources: IEA Electricity 2026 executive summary and grids chapter.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1E295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10312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B342"/>
                </a:solidFill>
              </a:rPr>
              <a:t>6. LONG THESIS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84048" y="530352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E295F"/>
                </a:solidFill>
              </a:rPr>
              <a:t>Long Sieyuan Electric: grid equipment is the new security infrastructure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84048" y="1097280"/>
            <a:ext cx="566928" cy="54864"/>
          </a:xfrm>
          <a:prstGeom prst="rect">
            <a:avLst/>
          </a:prstGeom>
          <a:solidFill>
            <a:srgbClr val="E6B342"/>
          </a:solidFill>
          <a:ln w="12700">
            <a:solidFill>
              <a:srgbClr val="E6B3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25880"/>
            <a:ext cx="3017520" cy="384048"/>
          </a:xfrm>
          <a:prstGeom prst="roundRect">
            <a:avLst>
              <a:gd name="adj" fmla="val 19048"/>
            </a:avLst>
          </a:prstGeom>
          <a:solidFill>
            <a:srgbClr val="D82E2F"/>
          </a:solidFill>
          <a:ln w="12700">
            <a:solidFill>
              <a:srgbClr val="D82E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9903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1. Demand visibility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26280" y="1325880"/>
            <a:ext cx="3017520" cy="384048"/>
          </a:xfrm>
          <a:prstGeom prst="roundRect">
            <a:avLst>
              <a:gd name="adj" fmla="val 19048"/>
            </a:avLst>
          </a:prstGeom>
          <a:solidFill>
            <a:srgbClr val="D82E2F"/>
          </a:solidFill>
          <a:ln w="12700">
            <a:solidFill>
              <a:srgbClr val="D82E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39903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2. Overseas growth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458200" y="1325880"/>
            <a:ext cx="3017520" cy="384048"/>
          </a:xfrm>
          <a:prstGeom prst="roundRect">
            <a:avLst>
              <a:gd name="adj" fmla="val 19048"/>
            </a:avLst>
          </a:prstGeom>
          <a:solidFill>
            <a:srgbClr val="D82E2F"/>
          </a:solidFill>
          <a:ln w="12700">
            <a:solidFill>
              <a:srgbClr val="D82E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0" y="139903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3. Product fit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1828800"/>
            <a:ext cx="3017520" cy="352044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25400" dist="50800" dir="2700000">
              <a:srgbClr val="999999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58952" y="1965960"/>
            <a:ext cx="2688336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295F"/>
                </a:solidFill>
              </a:rPr>
              <a:t>Policy-backed grid cycle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58952" y="2359152"/>
            <a:ext cx="2688336" cy="2880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</a:rPr>
              <a:t>Transmission, distribution, substations and grid control equipment become core to energy resilience. This creates multi-year demand that is less tied to oil price volatility.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26280" y="1828800"/>
            <a:ext cx="3017520" cy="352044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25400" dist="50800" dir="2700000">
              <a:srgbClr val="999999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90872" y="1965960"/>
            <a:ext cx="2688336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295F"/>
                </a:solidFill>
              </a:rPr>
              <a:t>International optionality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90872" y="2359152"/>
            <a:ext cx="2688336" cy="2880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</a:rPr>
              <a:t>HKEX filing highlights overseas revenue growth of 44.7% YoY in 2024 and 72.7% YoY in 2025 Q1–Q3, showing export momentum.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458200" y="1828800"/>
            <a:ext cx="3017520" cy="352044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25400" dist="50800" dir="2700000">
              <a:srgbClr val="999999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22792" y="1965960"/>
            <a:ext cx="2688336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295F"/>
                </a:solidFill>
              </a:rPr>
              <a:t>Direct grid-hardening exposure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22792" y="2359152"/>
            <a:ext cx="2688336" cy="2880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</a:rPr>
              <a:t>Products used in power transmission, distribution and control are closer to the capex response than generic renewables exposure.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" y="6300216"/>
            <a:ext cx="10515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778090"/>
                </a:solidFill>
              </a:rPr>
              <a:t>Sources: HKEX Sieyuan Electric filing; IEA grids investment outlook.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1E295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10312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B342"/>
                </a:solidFill>
              </a:rPr>
              <a:t>7. SHORT THESIS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84048" y="530352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E295F"/>
                </a:solidFill>
              </a:rPr>
              <a:t>Short oilfield services: crisis can create costs before it creates earnings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84048" y="1097280"/>
            <a:ext cx="566928" cy="54864"/>
          </a:xfrm>
          <a:prstGeom prst="rect">
            <a:avLst/>
          </a:prstGeom>
          <a:solidFill>
            <a:srgbClr val="E6B342"/>
          </a:solidFill>
          <a:ln w="12700">
            <a:solidFill>
              <a:srgbClr val="E6B3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4846320" cy="4297680"/>
          </a:xfrm>
          <a:prstGeom prst="roundRect">
            <a:avLst>
              <a:gd name="adj" fmla="val 1702"/>
            </a:avLst>
          </a:prstGeom>
          <a:solidFill>
            <a:srgbClr val="FCEAEA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25400" dist="50800" dir="2700000">
              <a:srgbClr val="999999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0392" y="1554480"/>
            <a:ext cx="4517136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82E2F"/>
                </a:solidFill>
              </a:rPr>
              <a:t>Company B: an oilfield-service leader exposed to fragile energy logistics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0392" y="1947672"/>
            <a:ext cx="4517136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</a:rPr>
              <a:t>Use the same logic as the winning “Company B” slide: show measurable dependence and status-quo problems, not vague bearishness.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</a:rPr>
              <a:t>1. Upstream activity dependence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</a:rPr>
              <a:t>2. International / Middle East exposure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</a:rPr>
              <a:t>3. Logistics and raw-material cost pressure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</a:rPr>
              <a:t>4. Project timing and capex confidence risk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</a:rPr>
              <a:t>5. Margin sensitivity to utilization and mobilization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89320" y="1508760"/>
            <a:ext cx="1371600" cy="347472"/>
          </a:xfrm>
          <a:prstGeom prst="rect">
            <a:avLst/>
          </a:prstGeom>
          <a:solidFill>
            <a:srgbClr val="1E295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0" y="1591056"/>
            <a:ext cx="128016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Problem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360920" y="1508760"/>
            <a:ext cx="2148840" cy="347472"/>
          </a:xfrm>
          <a:prstGeom prst="rect">
            <a:avLst/>
          </a:prstGeom>
          <a:solidFill>
            <a:srgbClr val="D82E2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06640" y="1591056"/>
            <a:ext cx="205740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Evidence to collect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509760" y="1508760"/>
            <a:ext cx="2148840" cy="347472"/>
          </a:xfrm>
          <a:prstGeom prst="rect">
            <a:avLst/>
          </a:prstGeom>
          <a:solidFill>
            <a:srgbClr val="D82E2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55480" y="1591056"/>
            <a:ext cx="205740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Pitch message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89320" y="1856232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53328" y="1929384"/>
            <a:ext cx="124358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11111"/>
                </a:solidFill>
              </a:rPr>
              <a:t>Cost pressure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7360920" y="1856232"/>
            <a:ext cx="2148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24928" y="1929384"/>
            <a:ext cx="202082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Transcript mentions: logistics, freight, raw materials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9509760" y="1856232"/>
            <a:ext cx="2148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73768" y="1929384"/>
            <a:ext cx="202082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Crisis can compress margins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5989320" y="2359152"/>
            <a:ext cx="137160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53328" y="2432304"/>
            <a:ext cx="124358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11111"/>
                </a:solidFill>
              </a:rPr>
              <a:t>Project delays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7360920" y="2359152"/>
            <a:ext cx="214884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24928" y="2432304"/>
            <a:ext cx="202082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Capex caution, regional instability, demobilization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9509760" y="2359152"/>
            <a:ext cx="214884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73768" y="2432304"/>
            <a:ext cx="202082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Oil price ≠ immediate service volume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5989320" y="2862072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53328" y="2935224"/>
            <a:ext cx="124358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11111"/>
                </a:solidFill>
              </a:rPr>
              <a:t>Geographic risk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7360920" y="2862072"/>
            <a:ext cx="2148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24928" y="2935224"/>
            <a:ext cx="202082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Middle East / international revenue share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9509760" y="2862072"/>
            <a:ext cx="2148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73768" y="2935224"/>
            <a:ext cx="202082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Growth is exposed to chokepoints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5989320" y="3364992"/>
            <a:ext cx="137160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53328" y="3438144"/>
            <a:ext cx="124358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11111"/>
                </a:solidFill>
              </a:rPr>
              <a:t>Cyclical multiple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7360920" y="3364992"/>
            <a:ext cx="214884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24928" y="3438144"/>
            <a:ext cx="202082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Sensitivity to rig count and customer budgets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9509760" y="3364992"/>
            <a:ext cx="214884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573768" y="3438144"/>
            <a:ext cx="202082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Lower earnings visibility than grid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384048" y="6300216"/>
            <a:ext cx="10515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778090"/>
                </a:solidFill>
              </a:rPr>
              <a:t>Sources to fill: Halliburton / SLB filings and earnings transcripts; Reuters updates on disruption-related cost recovery.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1E295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10312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B342"/>
                </a:solidFill>
              </a:rPr>
              <a:t>8. LONG/SHORT COMPARISON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84048" y="530352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E295F"/>
                </a:solidFill>
              </a:rPr>
              <a:t>Pair-trade logic isolates the alpha: grid resilience vs oil logistics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84048" y="1097280"/>
            <a:ext cx="566928" cy="54864"/>
          </a:xfrm>
          <a:prstGeom prst="rect">
            <a:avLst/>
          </a:prstGeom>
          <a:solidFill>
            <a:srgbClr val="E6B342"/>
          </a:solidFill>
          <a:ln w="12700">
            <a:solidFill>
              <a:srgbClr val="E6B3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1325880" cy="347472"/>
          </a:xfrm>
          <a:prstGeom prst="rect">
            <a:avLst/>
          </a:prstGeom>
          <a:solidFill>
            <a:srgbClr val="1E295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08176"/>
            <a:ext cx="12344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Dimension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828800" y="1325880"/>
            <a:ext cx="2743200" cy="347472"/>
          </a:xfrm>
          <a:prstGeom prst="rect">
            <a:avLst/>
          </a:prstGeom>
          <a:solidFill>
            <a:srgbClr val="D82E2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74520" y="1408176"/>
            <a:ext cx="265176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Long: Sieyuan Electric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0" y="1325880"/>
            <a:ext cx="2743200" cy="347472"/>
          </a:xfrm>
          <a:prstGeom prst="rect">
            <a:avLst/>
          </a:prstGeom>
          <a:solidFill>
            <a:srgbClr val="D82E2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408176"/>
            <a:ext cx="265176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Short: Halliburton / SLB / NOV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315200" y="1325880"/>
            <a:ext cx="3749040" cy="347472"/>
          </a:xfrm>
          <a:prstGeom prst="rect">
            <a:avLst/>
          </a:prstGeom>
          <a:solidFill>
            <a:srgbClr val="D82E2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60920" y="1408176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Why it matters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" y="1673352"/>
            <a:ext cx="13258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1746504"/>
            <a:ext cx="119786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11111"/>
                </a:solidFill>
              </a:rPr>
              <a:t>Theme exposure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1828800" y="1673352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92808" y="1746504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Grid upgrade, power transmission, substations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4572000" y="1673352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36008" y="1746504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Oilfield services, drilling and completions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7315200" y="1673352"/>
            <a:ext cx="37490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79208" y="1746504"/>
            <a:ext cx="362102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Both link to energy security but different payoff paths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502920" y="2176272"/>
            <a:ext cx="132588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2249424"/>
            <a:ext cx="119786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11111"/>
                </a:solidFill>
              </a:rPr>
              <a:t>Demand driver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1828800" y="2176272"/>
            <a:ext cx="274320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92808" y="2249424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Electricity demand, grid capex, resilience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4572000" y="2176272"/>
            <a:ext cx="274320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36008" y="2249424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Producer capex and operational activity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7315200" y="2176272"/>
            <a:ext cx="374904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79208" y="2249424"/>
            <a:ext cx="362102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Grid cycle has policy-backed visibility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502920" y="2679192"/>
            <a:ext cx="13258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2752344"/>
            <a:ext cx="119786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11111"/>
                </a:solidFill>
              </a:rPr>
              <a:t>Crisis impact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1828800" y="2679192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92808" y="2752344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Accelerates need for electrical resilience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4572000" y="2679192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36008" y="2752344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Raises logistics / raw-material / mobilization costs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7315200" y="2679192"/>
            <a:ext cx="37490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79208" y="2752344"/>
            <a:ext cx="362102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Disruption can hurt short-term service margins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502920" y="3182112"/>
            <a:ext cx="132588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3255264"/>
            <a:ext cx="119786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11111"/>
                </a:solidFill>
              </a:rPr>
              <a:t>Earnings quality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1828800" y="3182112"/>
            <a:ext cx="274320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92808" y="3255264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Order/booklog-driven equipment cycle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4572000" y="3182112"/>
            <a:ext cx="274320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36008" y="3255264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More utilization and customer-budget dependent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7315200" y="3182112"/>
            <a:ext cx="374904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79208" y="3255264"/>
            <a:ext cx="362102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Long should deserve a resilience premium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502920" y="3685032"/>
            <a:ext cx="13258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6928" y="3758184"/>
            <a:ext cx="119786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11111"/>
                </a:solidFill>
              </a:rPr>
              <a:t>Market gap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1828800" y="3685032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92808" y="3758184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Underappreciated energy-security winner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4572000" y="3685032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36008" y="3758184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Over-simplified crisis beneficiary</a:t>
            </a:r>
            <a:endParaRPr lang="en-US" sz="820" dirty="0"/>
          </a:p>
        </p:txBody>
      </p:sp>
      <p:sp>
        <p:nvSpPr>
          <p:cNvPr id="51" name="Shape 49"/>
          <p:cNvSpPr/>
          <p:nvPr/>
        </p:nvSpPr>
        <p:spPr>
          <a:xfrm>
            <a:off x="7315200" y="3685032"/>
            <a:ext cx="37490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79208" y="3758184"/>
            <a:ext cx="362102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Core source of alpha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1E295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10312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B342"/>
                </a:solidFill>
              </a:rPr>
              <a:t>9. AI-ASSISTED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84048" y="530352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E295F"/>
                </a:solidFill>
              </a:rPr>
              <a:t>AI module: Energy Security Signal Tracker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84048" y="1097280"/>
            <a:ext cx="566928" cy="54864"/>
          </a:xfrm>
          <a:prstGeom prst="rect">
            <a:avLst/>
          </a:prstGeom>
          <a:solidFill>
            <a:srgbClr val="E6B342"/>
          </a:solidFill>
          <a:ln w="12700">
            <a:solidFill>
              <a:srgbClr val="E6B3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53312"/>
            <a:ext cx="2743200" cy="4251960"/>
          </a:xfrm>
          <a:prstGeom prst="roundRect">
            <a:avLst>
              <a:gd name="adj" fmla="val 2667"/>
            </a:avLst>
          </a:prstGeom>
          <a:solidFill>
            <a:srgbClr val="F4F6F8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25400" dist="50800" dir="2700000">
              <a:srgbClr val="999999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" y="1490472"/>
            <a:ext cx="2414016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295F"/>
                </a:solidFill>
              </a:rPr>
              <a:t>Inputs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58952" y="1883664"/>
            <a:ext cx="2414016" cy="3611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</a:rPr>
              <a:t>• 200–500 news articles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</a:rPr>
              <a:t>• IEA/EIA/policy reports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</a:rPr>
              <a:t>• Company filings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</a:rPr>
              <a:t>• Earnings transcripts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</a:rPr>
              <a:t>• Broker report excerpts if available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</a:rPr>
              <a:t>• Keyword dictionaries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11880" y="3017520"/>
            <a:ext cx="502920" cy="502920"/>
          </a:xfrm>
          <a:prstGeom prst="chevron">
            <a:avLst/>
          </a:prstGeom>
          <a:solidFill>
            <a:srgbClr val="E6B342"/>
          </a:solidFill>
          <a:ln w="12700">
            <a:solidFill>
              <a:srgbClr val="E6B3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353312"/>
            <a:ext cx="2743200" cy="42519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25400" dist="50800" dir="2700000">
              <a:srgbClr val="999999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07992" y="1490472"/>
            <a:ext cx="2414016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295F"/>
                </a:solidFill>
              </a:rPr>
              <a:t>AI processing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07992" y="1883664"/>
            <a:ext cx="2414016" cy="3611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</a:rPr>
              <a:t>• Cluster articles by theme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</a:rPr>
              <a:t>• Extract keywords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</a:rPr>
              <a:t>• Score sentiment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</a:rPr>
              <a:t>• Flag management language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</a:rPr>
              <a:t>• Compare oil-service vs grid-equipment signals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</a:rPr>
              <a:t>• Summarize limitations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60920" y="3017520"/>
            <a:ext cx="502920" cy="502920"/>
          </a:xfrm>
          <a:prstGeom prst="chevron">
            <a:avLst/>
          </a:prstGeom>
          <a:solidFill>
            <a:srgbClr val="E6B342"/>
          </a:solidFill>
          <a:ln w="12700">
            <a:solidFill>
              <a:srgbClr val="E6B3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1353312"/>
            <a:ext cx="3429000" cy="4251960"/>
          </a:xfrm>
          <a:prstGeom prst="roundRect">
            <a:avLst>
              <a:gd name="adj" fmla="val 2133"/>
            </a:avLst>
          </a:prstGeom>
          <a:solidFill>
            <a:srgbClr val="1E295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25400" dist="50800" dir="2700000">
              <a:srgbClr val="999999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57032" y="1490472"/>
            <a:ext cx="3099816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6B342"/>
                </a:solidFill>
              </a:rPr>
              <a:t>Outputs for the deck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57032" y="1883664"/>
            <a:ext cx="3099816" cy="3611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Heatmap of “oil disruption” vs “grid resilience”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Transcript word-frequency table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Evidence library for short-case cost pressure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Evidence library for long-case capex visibility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3 charts you can defend in Q&amp;A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" y="6300216"/>
            <a:ext cx="10515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778090"/>
                </a:solidFill>
              </a:rPr>
              <a:t>Must include advantages and limitations: speed and scale vs source bias, hallucination risk, incomplete private data and need for human verification.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1E295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10312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B342"/>
                </a:solidFill>
              </a:rPr>
              <a:t>10. SAMPLE AI HEATMAP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84048" y="530352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E295F"/>
                </a:solidFill>
              </a:rPr>
              <a:t>AI output should prove the narrative gap, not just decorate the deck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84048" y="1097280"/>
            <a:ext cx="566928" cy="54864"/>
          </a:xfrm>
          <a:prstGeom prst="rect">
            <a:avLst/>
          </a:prstGeom>
          <a:solidFill>
            <a:srgbClr val="E6B342"/>
          </a:solidFill>
          <a:ln w="12700">
            <a:solidFill>
              <a:srgbClr val="E6B3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2148840" cy="347472"/>
          </a:xfrm>
          <a:prstGeom prst="rect">
            <a:avLst/>
          </a:prstGeom>
          <a:solidFill>
            <a:srgbClr val="1E295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99616"/>
            <a:ext cx="205740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Signal cluster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926080" y="1417320"/>
            <a:ext cx="2103120" cy="347472"/>
          </a:xfrm>
          <a:prstGeom prst="rect">
            <a:avLst/>
          </a:prstGeom>
          <a:solidFill>
            <a:srgbClr val="D82E2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0" y="1499616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Oilfield services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29200" y="1417320"/>
            <a:ext cx="2103120" cy="347472"/>
          </a:xfrm>
          <a:prstGeom prst="rect">
            <a:avLst/>
          </a:prstGeom>
          <a:solidFill>
            <a:srgbClr val="D82E2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1499616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Grid equipment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132320" y="1417320"/>
            <a:ext cx="3840480" cy="347472"/>
          </a:xfrm>
          <a:prstGeom prst="rect">
            <a:avLst/>
          </a:prstGeom>
          <a:solidFill>
            <a:srgbClr val="D82E2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78040" y="1499616"/>
            <a:ext cx="37490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Interpretation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77240" y="1764792"/>
            <a:ext cx="2148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1837944"/>
            <a:ext cx="202082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11111"/>
                </a:solidFill>
              </a:rPr>
              <a:t>Oil disruption / Hormuz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2926080" y="1764792"/>
            <a:ext cx="2103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90088" y="1837944"/>
            <a:ext cx="19751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High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5029200" y="1764792"/>
            <a:ext cx="2103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1837944"/>
            <a:ext cx="19751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Low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7132320" y="1764792"/>
            <a:ext cx="3840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96328" y="1837944"/>
            <a:ext cx="371246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Market narrative is oil-heavy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777240" y="2267712"/>
            <a:ext cx="214884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2340864"/>
            <a:ext cx="202082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11111"/>
                </a:solidFill>
              </a:rPr>
              <a:t>Logistics / freight / raw materials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2926080" y="2267712"/>
            <a:ext cx="210312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90088" y="2340864"/>
            <a:ext cx="19751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High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5029200" y="2267712"/>
            <a:ext cx="210312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93208" y="2340864"/>
            <a:ext cx="19751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Medium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7132320" y="2267712"/>
            <a:ext cx="384048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96328" y="2340864"/>
            <a:ext cx="371246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Short faces cost pass-through risk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777240" y="2770632"/>
            <a:ext cx="2148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2843784"/>
            <a:ext cx="202082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11111"/>
                </a:solidFill>
              </a:rPr>
              <a:t>Grid upgrade / transmission / substation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2926080" y="2770632"/>
            <a:ext cx="2103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90088" y="2843784"/>
            <a:ext cx="19751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Low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5029200" y="2770632"/>
            <a:ext cx="2103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93208" y="2843784"/>
            <a:ext cx="19751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High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7132320" y="2770632"/>
            <a:ext cx="3840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96328" y="2843784"/>
            <a:ext cx="371246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Long has direct capex exposure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777240" y="3273552"/>
            <a:ext cx="214884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1248" y="3346704"/>
            <a:ext cx="202082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11111"/>
                </a:solidFill>
              </a:rPr>
              <a:t>Data center / electrification demand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2926080" y="3273552"/>
            <a:ext cx="210312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90088" y="3346704"/>
            <a:ext cx="19751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Low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5029200" y="3273552"/>
            <a:ext cx="210312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93208" y="3346704"/>
            <a:ext cx="19751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High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7132320" y="3273552"/>
            <a:ext cx="384048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96328" y="3346704"/>
            <a:ext cx="371246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Demand growth points to grid bottlenecks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777240" y="3776472"/>
            <a:ext cx="2148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1248" y="3849624"/>
            <a:ext cx="202082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11111"/>
                </a:solidFill>
              </a:rPr>
              <a:t>Policy-backed capex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2926080" y="3776472"/>
            <a:ext cx="2103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90088" y="3849624"/>
            <a:ext cx="19751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Medium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5029200" y="3776472"/>
            <a:ext cx="2103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93208" y="3849624"/>
            <a:ext cx="19751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High</a:t>
            </a:r>
            <a:endParaRPr lang="en-US" sz="820" dirty="0"/>
          </a:p>
        </p:txBody>
      </p:sp>
      <p:sp>
        <p:nvSpPr>
          <p:cNvPr id="51" name="Shape 49"/>
          <p:cNvSpPr/>
          <p:nvPr/>
        </p:nvSpPr>
        <p:spPr>
          <a:xfrm>
            <a:off x="7132320" y="3776472"/>
            <a:ext cx="3840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96328" y="3849624"/>
            <a:ext cx="371246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Grid wins from security response</a:t>
            </a:r>
            <a:endParaRPr lang="en-US" sz="820" dirty="0"/>
          </a:p>
        </p:txBody>
      </p:sp>
      <p:sp>
        <p:nvSpPr>
          <p:cNvPr id="53" name="Shape 51"/>
          <p:cNvSpPr/>
          <p:nvPr/>
        </p:nvSpPr>
        <p:spPr>
          <a:xfrm>
            <a:off x="822960" y="4800600"/>
            <a:ext cx="9966960" cy="640080"/>
          </a:xfrm>
          <a:prstGeom prst="roundRect">
            <a:avLst>
              <a:gd name="adj" fmla="val 11429"/>
            </a:avLst>
          </a:prstGeom>
          <a:solidFill>
            <a:srgbClr val="1E295F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87552" y="4937760"/>
            <a:ext cx="9637776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6B342"/>
                </a:solidFill>
              </a:rPr>
              <a:t>Deck takeaway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987552" y="5330952"/>
            <a:ext cx="9637776" cy="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AI analysis should show a mismatch: public attention concentrates on oil disruption, while investment language increasingly points to grid resilience and electricity continuity.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1E295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10312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B342"/>
                </a:solidFill>
              </a:rPr>
              <a:t>11. VALUATION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84048" y="530352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E295F"/>
                </a:solidFill>
              </a:rPr>
              <a:t>Valuation framework: make the variant view measurable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84048" y="1097280"/>
            <a:ext cx="566928" cy="54864"/>
          </a:xfrm>
          <a:prstGeom prst="rect">
            <a:avLst/>
          </a:prstGeom>
          <a:solidFill>
            <a:srgbClr val="E6B342"/>
          </a:solidFill>
          <a:ln w="12700">
            <a:solidFill>
              <a:srgbClr val="E6B3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25880"/>
            <a:ext cx="3291840" cy="42976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25400" dist="50800" dir="2700000">
              <a:srgbClr val="999999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" y="1463040"/>
            <a:ext cx="2962656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295F"/>
                </a:solidFill>
              </a:rPr>
              <a:t>Sieyuan upside model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58952" y="1856232"/>
            <a:ext cx="2962656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</a:rPr>
              <a:t>Revenue bridge: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</a:rPr>
              <a:t>China grid growth + overseas growth + mix.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</a:rPr>
              <a:t>Margin bridge: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</a:rPr>
              <a:t>Product mix + scale + raw material sensitivity.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</a:rPr>
              <a:t>Multiple bridge: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</a:rPr>
              <a:t>Re-rate if market values grid equipment as security infrastructure.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1325880"/>
            <a:ext cx="3291840" cy="42976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25400" dist="50800" dir="2700000">
              <a:srgbClr val="999999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99432" y="1463040"/>
            <a:ext cx="2962656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295F"/>
                </a:solidFill>
              </a:rPr>
              <a:t>Short downside model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99432" y="1856232"/>
            <a:ext cx="2962656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</a:rPr>
              <a:t>Revenue bridge: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</a:rPr>
              <a:t>Oil price × capex confidence × regional activity.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</a:rPr>
              <a:t>Margin bridge: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</a:rPr>
              <a:t>Logistics/freight/raw materials + utilization.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</a:rPr>
              <a:t>Multiple bridge: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</a:rPr>
              <a:t>De-rate if earnings revisions turn negative.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75320" y="1325880"/>
            <a:ext cx="3291840" cy="4297680"/>
          </a:xfrm>
          <a:prstGeom prst="roundRect">
            <a:avLst>
              <a:gd name="adj" fmla="val 2222"/>
            </a:avLst>
          </a:prstGeom>
          <a:solidFill>
            <a:srgbClr val="F4F6F8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25400" dist="50800" dir="2700000">
              <a:srgbClr val="999999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39912" y="1463040"/>
            <a:ext cx="2962656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295F"/>
                </a:solidFill>
              </a:rPr>
              <a:t>Scenario table to build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39912" y="1856232"/>
            <a:ext cx="2962656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</a:rPr>
              <a:t>Base: consensus-like earnings.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</a:rPr>
              <a:t>Bull long / bear short: grid capex accelerates while oilfield costs persist.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</a:rPr>
              <a:t>Bear long / bull short: oil normalizes and upstream capex recovers.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</a:rPr>
              <a:t>Show implied pair return, not only stock targets.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1E295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10312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B342"/>
                </a:solidFill>
              </a:rPr>
              <a:t>12. CATALYSTS &amp; KPIS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84048" y="530352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E295F"/>
                </a:solidFill>
              </a:rPr>
              <a:t>Catalysts: what makes the market close the gap?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84048" y="1097280"/>
            <a:ext cx="566928" cy="54864"/>
          </a:xfrm>
          <a:prstGeom prst="rect">
            <a:avLst/>
          </a:prstGeom>
          <a:solidFill>
            <a:srgbClr val="E6B342"/>
          </a:solidFill>
          <a:ln w="12700">
            <a:solidFill>
              <a:srgbClr val="E6B3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71600"/>
            <a:ext cx="1920240" cy="347472"/>
          </a:xfrm>
          <a:prstGeom prst="rect">
            <a:avLst/>
          </a:prstGeom>
          <a:solidFill>
            <a:srgbClr val="1E295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53896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Catalyst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514600" y="1371600"/>
            <a:ext cx="2560320" cy="347472"/>
          </a:xfrm>
          <a:prstGeom prst="rect">
            <a:avLst/>
          </a:prstGeom>
          <a:solidFill>
            <a:srgbClr val="D82E2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453896"/>
            <a:ext cx="246888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Long Sieyuan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74920" y="1371600"/>
            <a:ext cx="2560320" cy="347472"/>
          </a:xfrm>
          <a:prstGeom prst="rect">
            <a:avLst/>
          </a:prstGeom>
          <a:solidFill>
            <a:srgbClr val="D82E2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1453896"/>
            <a:ext cx="246888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Short oilfield services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635240" y="1371600"/>
            <a:ext cx="3657600" cy="347472"/>
          </a:xfrm>
          <a:prstGeom prst="rect">
            <a:avLst/>
          </a:prstGeom>
          <a:solidFill>
            <a:srgbClr val="D82E2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0" y="1453896"/>
            <a:ext cx="356616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Data to monitor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4360" y="1719072"/>
            <a:ext cx="1920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1792224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11111"/>
                </a:solidFill>
              </a:rPr>
              <a:t>Grid orders / tenders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2514600" y="1719072"/>
            <a:ext cx="2560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78608" y="1792224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Positive: validates capex cycle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5074920" y="1719072"/>
            <a:ext cx="2560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38928" y="1792224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Neutral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7635240" y="1719072"/>
            <a:ext cx="3657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99248" y="1792224"/>
            <a:ext cx="352958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China grid tenders, overseas contracts, backlog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594360" y="2221992"/>
            <a:ext cx="192024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2295144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11111"/>
                </a:solidFill>
              </a:rPr>
              <a:t>Electricity demand surprises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2514600" y="2221992"/>
            <a:ext cx="256032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78608" y="2295144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Positive: supports equipment demand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5074920" y="2221992"/>
            <a:ext cx="256032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38928" y="2295144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Neutral / indirect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7635240" y="2221992"/>
            <a:ext cx="365760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99248" y="2295144"/>
            <a:ext cx="352958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IEA updates, data center capex, load forecasts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594360" y="2724912"/>
            <a:ext cx="1920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2798064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11111"/>
                </a:solidFill>
              </a:rPr>
              <a:t>Oil logistics disruption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2514600" y="2724912"/>
            <a:ext cx="2560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78608" y="2798064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Positive via security urgency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5074920" y="2724912"/>
            <a:ext cx="2560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38928" y="2798064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Negative if costs/delays rise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7635240" y="2724912"/>
            <a:ext cx="3657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99248" y="2798064"/>
            <a:ext cx="352958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Hormuz/shipping insurance, freight, transcript language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594360" y="3227832"/>
            <a:ext cx="192024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" y="3300984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11111"/>
                </a:solidFill>
              </a:rPr>
              <a:t>Earnings revisions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2514600" y="3227832"/>
            <a:ext cx="256032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78608" y="3300984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Positive if estimates rise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5074920" y="3227832"/>
            <a:ext cx="256032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38928" y="3300984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Negative if margins cut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7635240" y="3227832"/>
            <a:ext cx="365760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99248" y="3300984"/>
            <a:ext cx="352958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Consensus EPS revision and guidance updates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594360" y="3730752"/>
            <a:ext cx="1920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8368" y="3803904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11111"/>
                </a:solidFill>
              </a:rPr>
              <a:t>Policy announcements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2514600" y="3730752"/>
            <a:ext cx="2560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78608" y="3803904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Positive: grid as strategic infrastructure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5074920" y="3730752"/>
            <a:ext cx="2560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38928" y="3803904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Mixed</a:t>
            </a:r>
            <a:endParaRPr lang="en-US" sz="820" dirty="0"/>
          </a:p>
        </p:txBody>
      </p:sp>
      <p:sp>
        <p:nvSpPr>
          <p:cNvPr id="51" name="Shape 49"/>
          <p:cNvSpPr/>
          <p:nvPr/>
        </p:nvSpPr>
        <p:spPr>
          <a:xfrm>
            <a:off x="7635240" y="3730752"/>
            <a:ext cx="3657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699248" y="3803904"/>
            <a:ext cx="352958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Grid investment plans, energy-security legislation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1E295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10312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B342"/>
                </a:solidFill>
              </a:rPr>
              <a:t>13. RISKS &amp; MITIGANTS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84048" y="530352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E295F"/>
                </a:solidFill>
              </a:rPr>
              <a:t>Risks first: show maturity before valuation conclusion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84048" y="1097280"/>
            <a:ext cx="566928" cy="54864"/>
          </a:xfrm>
          <a:prstGeom prst="rect">
            <a:avLst/>
          </a:prstGeom>
          <a:solidFill>
            <a:srgbClr val="E6B342"/>
          </a:solidFill>
          <a:ln w="12700">
            <a:solidFill>
              <a:srgbClr val="E6B3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71600"/>
            <a:ext cx="2331720" cy="347472"/>
          </a:xfrm>
          <a:prstGeom prst="rect">
            <a:avLst/>
          </a:prstGeom>
          <a:solidFill>
            <a:srgbClr val="1E295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53896"/>
            <a:ext cx="224028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Risk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926080" y="1371600"/>
            <a:ext cx="2743200" cy="347472"/>
          </a:xfrm>
          <a:prstGeom prst="rect">
            <a:avLst/>
          </a:prstGeom>
          <a:solidFill>
            <a:srgbClr val="D82E2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0" y="1453896"/>
            <a:ext cx="265176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Impact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669280" y="1371600"/>
            <a:ext cx="4572000" cy="347472"/>
          </a:xfrm>
          <a:prstGeom prst="rect">
            <a:avLst/>
          </a:prstGeom>
          <a:solidFill>
            <a:srgbClr val="D82E2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15000" y="1453896"/>
            <a:ext cx="448056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Mitigant / response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94360" y="1719072"/>
            <a:ext cx="2331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1792224"/>
            <a:ext cx="22037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11111"/>
                </a:solidFill>
              </a:rPr>
              <a:t>Oil price spike drives upstream capex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2926080" y="1719072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90088" y="1792224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Short may rally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5669280" y="1719072"/>
            <a:ext cx="4572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33288" y="1792224"/>
            <a:ext cx="444398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Use valuation sensitivity; avoid short if company has strong cost pass-through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594360" y="2221992"/>
            <a:ext cx="233172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2295144"/>
            <a:ext cx="22037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11111"/>
                </a:solidFill>
              </a:rPr>
              <a:t>Sieyuan margin pressure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2926080" y="2221992"/>
            <a:ext cx="274320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90088" y="2295144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Long upside delayed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5669280" y="2221992"/>
            <a:ext cx="457200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33288" y="2295144"/>
            <a:ext cx="444398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Stress test raw materials and price competition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594360" y="2724912"/>
            <a:ext cx="2331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2798064"/>
            <a:ext cx="22037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11111"/>
                </a:solidFill>
              </a:rPr>
              <a:t>Grid capex timing delay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2926080" y="2724912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0088" y="2798064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Orders convert slower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5669280" y="2724912"/>
            <a:ext cx="4572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33288" y="2798064"/>
            <a:ext cx="444398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Model base case conservatively; focus on multi-year cycle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594360" y="3227832"/>
            <a:ext cx="233172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3300984"/>
            <a:ext cx="22037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11111"/>
                </a:solidFill>
              </a:rPr>
              <a:t>Wrong short choice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2926080" y="3227832"/>
            <a:ext cx="274320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90088" y="3300984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Pair underperforms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5669280" y="3227832"/>
            <a:ext cx="457200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33288" y="3300984"/>
            <a:ext cx="444398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Screen Halliburton vs SLB vs NOV for best vulnerability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594360" y="3730752"/>
            <a:ext cx="2331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" y="3803904"/>
            <a:ext cx="22037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11111"/>
                </a:solidFill>
              </a:rPr>
              <a:t>AI output bias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2926080" y="3730752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90088" y="3803904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False confidence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5669280" y="3730752"/>
            <a:ext cx="4572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33288" y="3803904"/>
            <a:ext cx="444398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Manual validation; cite original sources; disclose limits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1E295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10312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B342"/>
                </a:solidFill>
              </a:rPr>
              <a:t>14. EXECUTION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84048" y="530352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E295F"/>
                </a:solidFill>
              </a:rPr>
              <a:t>Detailed implementation plan: 10-day sprint to a competition-ready deck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84048" y="1097280"/>
            <a:ext cx="566928" cy="54864"/>
          </a:xfrm>
          <a:prstGeom prst="rect">
            <a:avLst/>
          </a:prstGeom>
          <a:solidFill>
            <a:srgbClr val="E6B342"/>
          </a:solidFill>
          <a:ln w="12700">
            <a:solidFill>
              <a:srgbClr val="E6B3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54480"/>
            <a:ext cx="1920240" cy="3566160"/>
          </a:xfrm>
          <a:prstGeom prst="roundRect">
            <a:avLst>
              <a:gd name="adj" fmla="val 3810"/>
            </a:avLst>
          </a:prstGeom>
          <a:solidFill>
            <a:srgbClr val="1E295F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830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B342"/>
                </a:solidFill>
              </a:rPr>
              <a:t>Days 1–2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Consensus map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8952" y="2862072"/>
            <a:ext cx="1591056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DCE2FF"/>
                </a:solidFill>
              </a:rPr>
              <a:t>Read 8–12 sell-side notes, company filings, IEA/EIA reports. Write consensus in one sentence.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862072" y="1554480"/>
            <a:ext cx="1920240" cy="3566160"/>
          </a:xfrm>
          <a:prstGeom prst="roundRect">
            <a:avLst>
              <a:gd name="adj" fmla="val 3810"/>
            </a:avLst>
          </a:prstGeom>
          <a:solidFill>
            <a:srgbClr val="F4F6F8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9232" y="17830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82E2F"/>
                </a:solidFill>
              </a:rPr>
              <a:t>Days 3–4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99232" y="2240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5F"/>
                </a:solidFill>
              </a:rPr>
              <a:t>Data build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26664" y="2862072"/>
            <a:ext cx="1591056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8"/>
                </a:solidFill>
              </a:rPr>
              <a:t>Collect filings, segment data, valuation comps, transcripts and news corpus.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129784" y="1554480"/>
            <a:ext cx="1920240" cy="3566160"/>
          </a:xfrm>
          <a:prstGeom prst="roundRect">
            <a:avLst>
              <a:gd name="adj" fmla="val 3810"/>
            </a:avLst>
          </a:prstGeom>
          <a:solidFill>
            <a:srgbClr val="1E295F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66944" y="17830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B342"/>
                </a:solidFill>
              </a:rPr>
              <a:t>Days 5–6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66944" y="2240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module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94376" y="2862072"/>
            <a:ext cx="1591056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DCE2FF"/>
                </a:solidFill>
              </a:rPr>
              <a:t>Run clustering, keyword extraction, sentiment and transcript comparison. Produce heatmap and evidence library.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97496" y="1554480"/>
            <a:ext cx="1920240" cy="3566160"/>
          </a:xfrm>
          <a:prstGeom prst="roundRect">
            <a:avLst>
              <a:gd name="adj" fmla="val 3810"/>
            </a:avLst>
          </a:prstGeom>
          <a:solidFill>
            <a:srgbClr val="F4F6F8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34656" y="17830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82E2F"/>
                </a:solidFill>
              </a:rPr>
              <a:t>Days 7–8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34656" y="2240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5F"/>
                </a:solidFill>
              </a:rPr>
              <a:t>Model + valuation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62088" y="2862072"/>
            <a:ext cx="1591056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8"/>
                </a:solidFill>
              </a:rPr>
              <a:t>Build revenue/margin/multiple scenarios for long and short; calculate pair return.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665208" y="1554480"/>
            <a:ext cx="1920240" cy="3566160"/>
          </a:xfrm>
          <a:prstGeom prst="roundRect">
            <a:avLst>
              <a:gd name="adj" fmla="val 3810"/>
            </a:avLst>
          </a:prstGeom>
          <a:solidFill>
            <a:srgbClr val="1E295F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02368" y="17830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B342"/>
                </a:solidFill>
              </a:rPr>
              <a:t>Days 9–10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802368" y="2240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Deck + Q&amp;A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829800" y="2862072"/>
            <a:ext cx="1591056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DCE2FF"/>
                </a:solidFill>
              </a:rPr>
              <a:t>Compress to ≤20 slides, add risks before valuation, rehearse 30+ hard questions.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84048" y="6300216"/>
            <a:ext cx="10515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778090"/>
                </a:solidFill>
              </a:rPr>
              <a:t>Target output: a concise pitch deck, full Excel model, AI appendix/evidence library, and Q&amp;A script.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1E295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10312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B342"/>
                </a:solidFill>
              </a:rPr>
              <a:t>15. WORKSTREAM OWNERSHIP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84048" y="530352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E295F"/>
                </a:solidFill>
              </a:rPr>
              <a:t>Data checklist: what your team must collect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84048" y="1097280"/>
            <a:ext cx="566928" cy="54864"/>
          </a:xfrm>
          <a:prstGeom prst="rect">
            <a:avLst/>
          </a:prstGeom>
          <a:solidFill>
            <a:srgbClr val="E6B342"/>
          </a:solidFill>
          <a:ln w="12700">
            <a:solidFill>
              <a:srgbClr val="E6B3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25880"/>
            <a:ext cx="1920240" cy="347472"/>
          </a:xfrm>
          <a:prstGeom prst="rect">
            <a:avLst/>
          </a:prstGeom>
          <a:solidFill>
            <a:srgbClr val="1E295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08176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Workstream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514600" y="1325880"/>
            <a:ext cx="1417320" cy="347472"/>
          </a:xfrm>
          <a:prstGeom prst="rect">
            <a:avLst/>
          </a:prstGeom>
          <a:solidFill>
            <a:srgbClr val="D82E2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408176"/>
            <a:ext cx="132588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Owner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931920" y="1325880"/>
            <a:ext cx="3703320" cy="347472"/>
          </a:xfrm>
          <a:prstGeom prst="rect">
            <a:avLst/>
          </a:prstGeom>
          <a:solidFill>
            <a:srgbClr val="D82E2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77640" y="1408176"/>
            <a:ext cx="361188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Outputs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635240" y="1325880"/>
            <a:ext cx="3154680" cy="347472"/>
          </a:xfrm>
          <a:prstGeom prst="rect">
            <a:avLst/>
          </a:prstGeom>
          <a:solidFill>
            <a:srgbClr val="D82E2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0" y="1408176"/>
            <a:ext cx="30632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Quality bar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4360" y="1673352"/>
            <a:ext cx="1920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1746504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11111"/>
                </a:solidFill>
              </a:rPr>
              <a:t>Company fundamentals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2514600" y="1673352"/>
            <a:ext cx="1417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78608" y="1746504"/>
            <a:ext cx="12893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Member 1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3931920" y="1673352"/>
            <a:ext cx="3703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95928" y="1746504"/>
            <a:ext cx="35753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Revenue, margins, segments, overseas exposure, backlog/order proxy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7635240" y="1673352"/>
            <a:ext cx="3154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99248" y="1746504"/>
            <a:ext cx="302666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Every number linked to filing or transcript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594360" y="2176272"/>
            <a:ext cx="192024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2249424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11111"/>
                </a:solidFill>
              </a:rPr>
              <a:t>Industry &amp; macro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2514600" y="2176272"/>
            <a:ext cx="141732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78608" y="2249424"/>
            <a:ext cx="12893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Member 2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3931920" y="2176272"/>
            <a:ext cx="370332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95928" y="2249424"/>
            <a:ext cx="35753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IEA/EIA data, grid capex, electricity demand, oil chokepoints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7635240" y="2176272"/>
            <a:ext cx="315468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99248" y="2249424"/>
            <a:ext cx="302666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Only use data that supports pair logic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594360" y="2679192"/>
            <a:ext cx="1920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2752344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11111"/>
                </a:solidFill>
              </a:rPr>
              <a:t>Short screening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2514600" y="2679192"/>
            <a:ext cx="1417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78608" y="2752344"/>
            <a:ext cx="12893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Member 3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3931920" y="2679192"/>
            <a:ext cx="3703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95928" y="2752344"/>
            <a:ext cx="35753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Halliburton vs SLB vs NOV matrix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7635240" y="2679192"/>
            <a:ext cx="3154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99248" y="2752344"/>
            <a:ext cx="302666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Pick the weakest pair, not the famous name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594360" y="3182112"/>
            <a:ext cx="192024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" y="3255264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11111"/>
                </a:solidFill>
              </a:rPr>
              <a:t>AI analyst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2514600" y="3182112"/>
            <a:ext cx="141732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78608" y="3255264"/>
            <a:ext cx="12893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AI lead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3931920" y="3182112"/>
            <a:ext cx="370332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95928" y="3255264"/>
            <a:ext cx="35753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Corpus, code/prompts, heatmap, keyword tables, limitation slide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7635240" y="3182112"/>
            <a:ext cx="315468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99248" y="3255264"/>
            <a:ext cx="302666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Reproducible and manually checked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594360" y="3685032"/>
            <a:ext cx="1920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8368" y="3758184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11111"/>
                </a:solidFill>
              </a:rPr>
              <a:t>Deck synthesis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2514600" y="3685032"/>
            <a:ext cx="1417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78608" y="3758184"/>
            <a:ext cx="12893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Team lead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3931920" y="3685032"/>
            <a:ext cx="3703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995928" y="3758184"/>
            <a:ext cx="35753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≤20 slide deck, script, Q&amp;A tracker</a:t>
            </a:r>
            <a:endParaRPr lang="en-US" sz="820" dirty="0"/>
          </a:p>
        </p:txBody>
      </p:sp>
      <p:sp>
        <p:nvSpPr>
          <p:cNvPr id="51" name="Shape 49"/>
          <p:cNvSpPr/>
          <p:nvPr/>
        </p:nvSpPr>
        <p:spPr>
          <a:xfrm>
            <a:off x="7635240" y="3685032"/>
            <a:ext cx="3154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699248" y="3758184"/>
            <a:ext cx="302666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8"/>
                </a:solidFill>
              </a:rPr>
              <a:t>One sentence governs all slides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1E295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10312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B342"/>
                </a:solidFill>
              </a:rPr>
              <a:t>16. DEFENSE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84048" y="530352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E295F"/>
                </a:solidFill>
              </a:rPr>
              <a:t>Q&amp;A preparation: questions judges will ask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84048" y="1097280"/>
            <a:ext cx="566928" cy="54864"/>
          </a:xfrm>
          <a:prstGeom prst="rect">
            <a:avLst/>
          </a:prstGeom>
          <a:solidFill>
            <a:srgbClr val="E6B342"/>
          </a:solidFill>
          <a:ln w="12700">
            <a:solidFill>
              <a:srgbClr val="E6B3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3291840" cy="4343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25400" dist="50800" dir="2700000">
              <a:srgbClr val="999999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0392" y="1554480"/>
            <a:ext cx="2962656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82E2F"/>
                </a:solidFill>
              </a:rPr>
              <a:t>Hard question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1947672"/>
            <a:ext cx="2962656" cy="3703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</a:rPr>
              <a:t>“If oil logistics are vulnerable, why are you short oilfield services?”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</a:rPr>
              <a:t>Answer: because disruption raises costs, delays projects and hurts execution before it guarantees service volume.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34840" y="1417320"/>
            <a:ext cx="3291840" cy="4343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25400" dist="50800" dir="2700000">
              <a:srgbClr val="999999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99432" y="1554480"/>
            <a:ext cx="2962656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82E2F"/>
                </a:solidFill>
              </a:rPr>
              <a:t>Hard question 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99432" y="1947672"/>
            <a:ext cx="2962656" cy="3703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</a:rPr>
              <a:t>“Why Sieyuan instead of Dongfang or Jereh?”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</a:rPr>
              <a:t>Answer: Sieyuan is the cleaner expression of grid resilience; Jereh is closer to oil/gas equipment, and Dongfang has more generation-equipment complexity.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83880" y="1417320"/>
            <a:ext cx="3291840" cy="4343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25400" dist="50800" dir="2700000">
              <a:srgbClr val="999999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48472" y="1554480"/>
            <a:ext cx="2962656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82E2F"/>
                </a:solidFill>
              </a:rPr>
              <a:t>Hard question 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48472" y="1947672"/>
            <a:ext cx="2962656" cy="3703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</a:rPr>
              <a:t>“What could break the pair?”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</a:rPr>
              <a:t>Answer: fast normalization of oil logistics, stronger oil-service pass-through, or delayed grid capex. We show this in bear/bull sensitivity.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1E295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9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B342"/>
          </a:solidFill>
          <a:ln w="12700">
            <a:solidFill>
              <a:srgbClr val="E6B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96012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B342"/>
                </a:solidFill>
              </a:rPr>
              <a:t>FINAL MESSAGE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795528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Long the Grid,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Short the Bottleneck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94360" y="2907792"/>
            <a:ext cx="1097280" cy="54864"/>
          </a:xfrm>
          <a:prstGeom prst="rect">
            <a:avLst/>
          </a:prstGeom>
          <a:solidFill>
            <a:srgbClr val="E6B342"/>
          </a:solidFill>
          <a:ln w="12700">
            <a:solidFill>
              <a:srgbClr val="E6B3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246120"/>
            <a:ext cx="896112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CE2FF"/>
                </a:solidFill>
              </a:rPr>
              <a:t>Energy security is no longer only about oil supply. It is increasingly about electricity continuity — and that makes grid equipment the cleaner, more durable long than oilfield-service cyclicals.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516636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B342"/>
                </a:solidFill>
              </a:rPr>
              <a:t>Next action: choose the short, build the AI tracker, and quantify the pair return.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1E295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Long the Grid, Short the Bottleneck</dc:title>
  <dc:subject>UBS Finance Challenge Stock Pitch</dc:subject>
  <dc:creator>OpenAI</dc:creator>
  <cp:lastModifiedBy>OpenAI</cp:lastModifiedBy>
  <cp:revision>1</cp:revision>
  <dcterms:created xsi:type="dcterms:W3CDTF">2026-04-26T05:19:46Z</dcterms:created>
  <dcterms:modified xsi:type="dcterms:W3CDTF">2026-04-26T05:19:46Z</dcterms:modified>
</cp:coreProperties>
</file>